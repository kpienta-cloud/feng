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Thank the organizers and the Feng family. Acknowledge the gravity of speaking at a symposium named for a colleague who worked in this exact field.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opening line of the actual last keynote Feng gave, seven months before he died. Let it land. Pause after reading it. This talk exists because he never got to finish the argument he started that day.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questions as the spine of the talk. Note upfront that we will keep returning to a single reframe: a tumor is not an object, it is a population under selection.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biographical grounding for anyone in the room who did not know him personally. Emphasize the productivity number is almost two papers a month, every month, for two decades.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the room to the live, interactive version of this graph, hosted alongside the paper on GitHub. Mention that gold is Feng, teal is a research theme, violet is a collaborator, and that this whole talk is essentially a guided walk through this graph.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historical baseline: prostate cancer treated as a single entity, distinguished only by grade and stage. Feng's laboratory spent a decade taking that apart at Michigan.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were not incremental biomarkers. They were evidence that prostate cancer was always a label of convenience covering multiple molecular diseases sharing one organ of origin.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multi-institutional validation numbers. This is the moment lncRNA biology became a clinical-grade prognostic test.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clinical payoff of subtyping: a fact invisible to anyone looking only at grade and stage. Two patients who look identical on a pathology report can need opposite treatment decisions.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into the mechanistic thread: PARP1, DNA-PK, and the ETS fusion axis, then the clinical demonstration of polyclonal resistance via cfDNA.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paper provided the mechanistic rationale for PARP inhibition in ETS fusion-positive prostate cancer before a single patient trial existed. Preclinical work seeding a therapeutic class.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this body of work reframes DNA repair machinery from a downstream bystander into an upstream engine of both androgen signaling and metastatic spread.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 progressing on PARP inhibitors: cell-free DNA revealed multi-clonal heterogeneity a single biopsy could not see. This is direct clinical evidence for resistance as a population-level, evolutionary process.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Pivot to the genomic classifier work built specifically to answer this question at the level of the individual patient.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hedge. It is a research program stated as a sentence. Everything on the next three slides is his laboratory's attempt to execute it.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Feng was first author on this definitive validation. Note the sign flip in the early-salvage, low-PSA subgroup: negative benefit in low score patients, meaning harm. This is the practice-changing result behind NCCN's recommendation of Decipher.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distinction between prognostic and predictive. Permission slips to do less are far rarer in oncology than reasons to do more, and this is one of them.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reported nearly a year after Feng died. The trial infrastructure he built kept running and kept answering the question he asked. This is the least glamorous kind of consequential science: success measured in treatments withheld.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into the multimodal deep learning work, built with Andre Esteva, and Feng's own methodological discipline about what training data to trust.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Feng's last major papers, built with computer scientist Andre Esteva. Note this was trained and validated across five separate randomized trial populations, not one retrospective registry.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valuable training data is not the biggest. It is the data whose provenance you can defend in front of a skeptical colleague. This is a methodological discipline a lot of AI enthusiasm in oncology still lacks.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was not a disclaimer buried in a methods section. A model trained on one population and deployed on another is a different, unvalidated instrument wearing the same name.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from the science itself to the infrastructure Feng built around it: companies, named awards, mentees, and the symposium itself.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were founded to individualize cancer treatment. One exited into a larger diagnostics company; the other is still building the tool he started.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Within months of his death, three national organizations had built permanent funding lines carrying his name. That is a rare and fast institutional response.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Feng himself said his greatest contribution would be the careers he helped build, not the papers he authored. Chu, Zhu, and Chou are among the mentees now on UCSF faculty.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right now, sitting inside the strongest evidence for this question's answer.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 five threads back together as a single thesis. This is the crisp take-home message Feng promised his own audience and never quite delivered.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actionable center of the talk. Speak to each item as a call the room can act on this year, not someday. (~2.5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slowly. This is the emotional and intellectual close of the talk before the resources slide. Let the room sit with it for a moment before moving on. (~1.5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thanks to the organizers and an invitation to explore the knowledge graph and read the companion paper. Open the floor for questions.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ancerletter.com/in-the-archives/20250124_8/"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ucsf.edu/news/2025/01/429356/prostate-cancer-expert-felix-feng-dies-at-48" TargetMode="External"/><Relationship Id="rId2" Type="http://schemas.openxmlformats.org/officeDocument/2006/relationships/hyperlink" Target="https://cancerletter.com/obituary/20250124_4/"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kpienta-cloud/FENG" TargetMode="Externa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nature.com/articles/nbt.1914" TargetMode="External"/><Relationship Id="rId2" Type="http://schemas.openxmlformats.org/officeDocument/2006/relationships/hyperlink" Target="https://www.nature.com/articles/ng.2771"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pubmed.ncbi.nlm.nih.gov/25456366/"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pubmed.ncbi.nlm.nih.gov/28494073/" TargetMode="External"/><Relationship Id="rId2" Type="http://schemas.openxmlformats.org/officeDocument/2006/relationships/hyperlink" Target="https://grandroundsinurology.com/frontiers-in-prostate-cancer-genomics/"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pubmed.ncbi.nlm.nih.gov/21575865/"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pubmed.ncbi.nlm.nih.gov/24027197/" TargetMode="External"/><Relationship Id="rId2" Type="http://schemas.openxmlformats.org/officeDocument/2006/relationships/hyperlink" Target="https://pubmed.ncbi.nlm.nih.gov/26175416/"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pmc.ncbi.nlm.nih.gov/articles/PMC5581695/"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www.urotoday.review/video-lectures/prostate-cancer/video/2914-personalizing-prostate-cancer-care-with-ai-felix-feng.htm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jamanetwork.com/journals/jamaoncology/fullarticle/2776225"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pubmed.ncbi.nlm.nih.gov/27743920/"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www.nrgoncology.org/PREDICT-RT" TargetMode="External"/><Relationship Id="rId2" Type="http://schemas.openxmlformats.org/officeDocument/2006/relationships/hyperlink" Target="https://www.urologytimes.com/view/pam50-biomarker-is-predictive-of-hormone-therapy-benefit-in-post-prostatectomy-setting"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pubmed.ncbi.nlm.nih.gov/35676445/" TargetMode="External"/><Relationship Id="rId2" Type="http://schemas.openxmlformats.org/officeDocument/2006/relationships/hyperlink" Target="http://www.urotoday.review/video-lectures/prostate-cancer/video/2914-personalizing-prostate-cancer-care-with-ai-felix-feng.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www.urotoday.review/video-lectures/prostate-cancer/video/2914-personalizing-prostate-cancer-care-with-ai-felix-feng.html"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www.urotoday.review/video-lectures/prostate-cancer/video/2914-personalizing-prostate-cancer-care-with-ai-felix-feng.html"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https://www.genomeweb.com/business-news/exact-sciences-reports-16-percent-q1-revenues-rise-acquires-pfs-genomics-306m" TargetMode="External"/><Relationship Id="rId2" Type="http://schemas.openxmlformats.org/officeDocument/2006/relationships/hyperlink" Target="https://artera.ai/team/felix-feng"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hyperlink" Target="https://www.astro.org/about-astro/board-and-leadership/acs-astro-felix-feng-grant-award" TargetMode="External"/><Relationship Id="rId2" Type="http://schemas.openxmlformats.org/officeDocument/2006/relationships/hyperlink" Target="https://cancerletter.com/obituary/20250124_4/" TargetMode="External"/><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hyperlink" Target="https://cancerletter.com/obituary/20250124_4/" TargetMode="Externa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thefengsymposium.org/" TargetMode="External"/><Relationship Id="rId2" Type="http://schemas.openxmlformats.org/officeDocument/2006/relationships/hyperlink" Target="https://cancerletter.com/obituary/20250124_5/" TargetMode="External"/><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371600"/>
            <a:ext cx="10543032" cy="365760"/>
          </a:xfrm>
          <a:prstGeom prst="rect">
            <a:avLst/>
          </a:prstGeom>
          <a:noFill/>
          <a:ln/>
        </p:spPr>
        <p:txBody>
          <a:bodyPr wrap="square" lIns="0" tIns="0" rIns="0" bIns="0" rtlCol="0" anchor="ctr"/>
          <a:lstStyle/>
          <a:p>
            <a:pPr indent="0" marL="0">
              <a:buNone/>
            </a:pPr>
            <a:r>
              <a:rPr lang="en-US" sz="1400" b="1" spc="150" kern="0" dirty="0">
                <a:solidFill>
                  <a:srgbClr val="A3690C"/>
                </a:solidFill>
                <a:latin typeface="Calibri" pitchFamily="34" charset="0"/>
                <a:ea typeface="Calibri" pitchFamily="34" charset="-122"/>
                <a:cs typeface="Calibri" pitchFamily="34" charset="-120"/>
              </a:rPr>
              <a:t>4TH ANNUAL FENG SYMPOSIUM ON PROSTATE CANCER REVOLUTIONS</a:t>
            </a:r>
            <a:endParaRPr lang="en-US" sz="1400" dirty="0"/>
          </a:p>
        </p:txBody>
      </p:sp>
      <p:sp>
        <p:nvSpPr>
          <p:cNvPr id="3" name="Text 1"/>
          <p:cNvSpPr/>
          <p:nvPr/>
        </p:nvSpPr>
        <p:spPr>
          <a:xfrm>
            <a:off x="822960" y="1828800"/>
            <a:ext cx="10543032" cy="2103120"/>
          </a:xfrm>
          <a:prstGeom prst="rect">
            <a:avLst/>
          </a:prstGeom>
          <a:noFill/>
          <a:ln/>
        </p:spPr>
        <p:txBody>
          <a:bodyPr wrap="square" lIns="0" tIns="0" rIns="0" bIns="0" rtlCol="0" anchor="ctr"/>
          <a:lstStyle/>
          <a:p>
            <a:pPr indent="0" marL="0">
              <a:lnSpc>
                <a:spcPts val="4600"/>
              </a:lnSpc>
              <a:buNone/>
            </a:pPr>
            <a:r>
              <a:rPr lang="en-US" sz="4000" b="1" dirty="0">
                <a:solidFill>
                  <a:srgbClr val="E8E4DB"/>
                </a:solidFill>
                <a:latin typeface="Georgia" pitchFamily="34" charset="0"/>
                <a:ea typeface="Georgia" pitchFamily="34" charset="-122"/>
                <a:cs typeface="Georgia" pitchFamily="34" charset="-120"/>
              </a:rPr>
              <a:t>Transformative Science and the Big Questions</a:t>
            </a:r>
            <a:endParaRPr lang="en-US" sz="4000" dirty="0"/>
          </a:p>
          <a:p>
            <a:pPr indent="0" marL="0">
              <a:lnSpc>
                <a:spcPts val="4600"/>
              </a:lnSpc>
              <a:buNone/>
            </a:pPr>
            <a:r>
              <a:rPr lang="en-US" sz="4000" b="1" dirty="0">
                <a:solidFill>
                  <a:srgbClr val="E8E4DB"/>
                </a:solidFill>
                <a:latin typeface="Georgia" pitchFamily="34" charset="0"/>
                <a:ea typeface="Georgia" pitchFamily="34" charset="-122"/>
                <a:cs typeface="Georgia" pitchFamily="34" charset="-120"/>
              </a:rPr>
              <a:t>Shaping the Future of Prostate Cancer</a:t>
            </a:r>
            <a:endParaRPr lang="en-US" sz="4000" dirty="0"/>
          </a:p>
        </p:txBody>
      </p:sp>
      <p:sp>
        <p:nvSpPr>
          <p:cNvPr id="4" name="Text 2"/>
          <p:cNvSpPr/>
          <p:nvPr/>
        </p:nvSpPr>
        <p:spPr>
          <a:xfrm>
            <a:off x="822960" y="3977640"/>
            <a:ext cx="10543032" cy="457200"/>
          </a:xfrm>
          <a:prstGeom prst="rect">
            <a:avLst/>
          </a:prstGeom>
          <a:noFill/>
          <a:ln/>
        </p:spPr>
        <p:txBody>
          <a:bodyPr wrap="square" lIns="0" tIns="0" rIns="0" bIns="0" rtlCol="0" anchor="ctr"/>
          <a:lstStyle/>
          <a:p>
            <a:pPr indent="0" marL="0">
              <a:buNone/>
            </a:pPr>
            <a:r>
              <a:rPr lang="en-US" sz="1800" i="1" dirty="0">
                <a:solidFill>
                  <a:srgbClr val="9B968C"/>
                </a:solidFill>
                <a:latin typeface="Calibri" pitchFamily="34" charset="0"/>
                <a:ea typeface="Calibri" pitchFamily="34" charset="-122"/>
                <a:cs typeface="Calibri" pitchFamily="34" charset="-120"/>
              </a:rPr>
              <a:t>In memory of Felix Y. Feng, MD  •  1975–2024</a:t>
            </a:r>
            <a:endParaRPr lang="en-US" sz="1800" dirty="0"/>
          </a:p>
        </p:txBody>
      </p:sp>
      <p:sp>
        <p:nvSpPr>
          <p:cNvPr id="5" name="Shape 3"/>
          <p:cNvSpPr/>
          <p:nvPr/>
        </p:nvSpPr>
        <p:spPr>
          <a:xfrm>
            <a:off x="822960" y="4617720"/>
            <a:ext cx="1097280" cy="0"/>
          </a:xfrm>
          <a:prstGeom prst="line">
            <a:avLst/>
          </a:prstGeom>
          <a:noFill/>
          <a:ln w="25400">
            <a:solidFill>
              <a:srgbClr val="A3690C"/>
            </a:solidFill>
            <a:prstDash val="solid"/>
          </a:ln>
        </p:spPr>
      </p:sp>
      <p:sp>
        <p:nvSpPr>
          <p:cNvPr id="6" name="Text 4"/>
          <p:cNvSpPr/>
          <p:nvPr/>
        </p:nvSpPr>
        <p:spPr>
          <a:xfrm>
            <a:off x="822960" y="4800600"/>
            <a:ext cx="7315200" cy="365760"/>
          </a:xfrm>
          <a:prstGeom prst="rect">
            <a:avLst/>
          </a:prstGeom>
          <a:noFill/>
          <a:ln/>
        </p:spPr>
        <p:txBody>
          <a:bodyPr wrap="square" lIns="0" tIns="0" rIns="0" bIns="0" rtlCol="0" anchor="ctr"/>
          <a:lstStyle/>
          <a:p>
            <a:pPr indent="0" marL="0">
              <a:buNone/>
            </a:pPr>
            <a:r>
              <a:rPr lang="en-US" sz="1600" b="1" dirty="0">
                <a:solidFill>
                  <a:srgbClr val="E8E4DB"/>
                </a:solidFill>
                <a:latin typeface="Calibri" pitchFamily="34" charset="0"/>
                <a:ea typeface="Calibri" pitchFamily="34" charset="-122"/>
                <a:cs typeface="Calibri" pitchFamily="34" charset="-120"/>
              </a:rPr>
              <a:t>Kenneth J. Pienta, MD</a:t>
            </a:r>
            <a:endParaRPr lang="en-US" sz="1600" dirty="0"/>
          </a:p>
        </p:txBody>
      </p:sp>
      <p:sp>
        <p:nvSpPr>
          <p:cNvPr id="7" name="Text 5"/>
          <p:cNvSpPr/>
          <p:nvPr/>
        </p:nvSpPr>
        <p:spPr>
          <a:xfrm>
            <a:off x="822960" y="5166360"/>
            <a:ext cx="8686800" cy="640080"/>
          </a:xfrm>
          <a:prstGeom prst="rect">
            <a:avLst/>
          </a:prstGeom>
          <a:noFill/>
          <a:ln/>
        </p:spPr>
        <p:txBody>
          <a:bodyPr wrap="square" lIns="0" tIns="0" rIns="0" bIns="0" rtlCol="0" anchor="ctr"/>
          <a:lstStyle/>
          <a:p>
            <a:pPr indent="0" marL="0">
              <a:lnSpc>
                <a:spcPts val="1600"/>
              </a:lnSpc>
              <a:buNone/>
            </a:pPr>
            <a:r>
              <a:rPr lang="en-US" sz="1200" dirty="0">
                <a:solidFill>
                  <a:srgbClr val="9B968C"/>
                </a:solidFill>
                <a:latin typeface="Calibri" pitchFamily="34" charset="0"/>
                <a:ea typeface="Calibri" pitchFamily="34" charset="-122"/>
                <a:cs typeface="Calibri" pitchFamily="34" charset="-120"/>
              </a:rPr>
              <a:t>Donald S. Coffey Professor of Urology, Oncology, and Pharmacology and Molecular Sciences</a:t>
            </a:r>
            <a:endParaRPr lang="en-US" sz="1200" dirty="0"/>
          </a:p>
          <a:p>
            <a:pPr indent="0" marL="0">
              <a:lnSpc>
                <a:spcPts val="1600"/>
              </a:lnSpc>
              <a:buNone/>
            </a:pPr>
            <a:r>
              <a:rPr lang="en-US" sz="1200" dirty="0">
                <a:solidFill>
                  <a:srgbClr val="9B968C"/>
                </a:solidFill>
                <a:latin typeface="Calibri" pitchFamily="34" charset="0"/>
                <a:ea typeface="Calibri" pitchFamily="34" charset="-122"/>
                <a:cs typeface="Calibri" pitchFamily="34" charset="-120"/>
              </a:rPr>
              <a:t>The James Buchanan Brady Urological Institute, The Johns Hopkins University School of Medicine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1005840" y="1188720"/>
            <a:ext cx="10177272" cy="3108960"/>
          </a:xfrm>
          <a:prstGeom prst="rect">
            <a:avLst/>
          </a:prstGeom>
          <a:noFill/>
          <a:ln/>
        </p:spPr>
        <p:txBody>
          <a:bodyPr wrap="square" lIns="0" tIns="0" rIns="0" bIns="0" rtlCol="0" anchor="ctr"/>
          <a:lstStyle/>
          <a:p>
            <a:pPr indent="0" marL="0">
              <a:lnSpc>
                <a:spcPts val="3600"/>
              </a:lnSpc>
              <a:buNone/>
            </a:pPr>
            <a:r>
              <a:rPr lang="en-US" sz="2700" i="1" dirty="0">
                <a:solidFill>
                  <a:srgbClr val="E8E4DB"/>
                </a:solidFill>
                <a:latin typeface="Georgia" pitchFamily="34" charset="0"/>
                <a:ea typeface="Georgia" pitchFamily="34" charset="-122"/>
                <a:cs typeface="Georgia" pitchFamily="34" charset="-120"/>
              </a:rPr>
              <a:t>“When a symposium is named after you, you can pretty much just wax poetic up on stage. I always tell you to give a crisp talk, one or two major take-home messages. I’m gonna break all those rules, okay?”</a:t>
            </a:r>
            <a:endParaRPr lang="en-US" sz="2700" dirty="0"/>
          </a:p>
        </p:txBody>
      </p:sp>
      <p:sp>
        <p:nvSpPr>
          <p:cNvPr id="3" name="Shape 1"/>
          <p:cNvSpPr/>
          <p:nvPr/>
        </p:nvSpPr>
        <p:spPr>
          <a:xfrm>
            <a:off x="1005840" y="4526280"/>
            <a:ext cx="822960" cy="0"/>
          </a:xfrm>
          <a:prstGeom prst="line">
            <a:avLst/>
          </a:prstGeom>
          <a:noFill/>
          <a:ln w="25400">
            <a:solidFill>
              <a:srgbClr val="A3690C"/>
            </a:solidFill>
            <a:prstDash val="solid"/>
          </a:ln>
        </p:spPr>
      </p:sp>
      <p:sp>
        <p:nvSpPr>
          <p:cNvPr id="4" name="Text 2"/>
          <p:cNvSpPr/>
          <p:nvPr/>
        </p:nvSpPr>
        <p:spPr>
          <a:xfrm>
            <a:off x="1005840" y="4663440"/>
            <a:ext cx="7315200" cy="365760"/>
          </a:xfrm>
          <a:prstGeom prst="rect">
            <a:avLst/>
          </a:prstGeom>
          <a:noFill/>
          <a:ln/>
        </p:spPr>
        <p:txBody>
          <a:bodyPr wrap="square" lIns="0" tIns="0" rIns="0" bIns="0" rtlCol="0" anchor="ctr"/>
          <a:lstStyle/>
          <a:p>
            <a:pPr indent="0" marL="0">
              <a:buNone/>
            </a:pPr>
            <a:r>
              <a:rPr lang="en-US" sz="1600" b="1" dirty="0">
                <a:solidFill>
                  <a:srgbClr val="A3690C"/>
                </a:solidFill>
                <a:latin typeface="Calibri" pitchFamily="34" charset="0"/>
                <a:ea typeface="Calibri" pitchFamily="34" charset="-122"/>
                <a:cs typeface="Calibri" pitchFamily="34" charset="-120"/>
              </a:rPr>
              <a:t>Felix Y. Feng, MD</a:t>
            </a:r>
            <a:endParaRPr lang="en-US" sz="1600" dirty="0"/>
          </a:p>
        </p:txBody>
      </p:sp>
      <p:sp>
        <p:nvSpPr>
          <p:cNvPr id="5" name="Text 3"/>
          <p:cNvSpPr/>
          <p:nvPr/>
        </p:nvSpPr>
        <p:spPr>
          <a:xfrm>
            <a:off x="1005840" y="5029200"/>
            <a:ext cx="8229600" cy="640080"/>
          </a:xfrm>
          <a:prstGeom prst="rect">
            <a:avLst/>
          </a:prstGeom>
          <a:noFill/>
          <a:ln/>
        </p:spPr>
        <p:txBody>
          <a:bodyPr wrap="square" lIns="0" tIns="0" rIns="0" bIns="0" rtlCol="0" anchor="ctr"/>
          <a:lstStyle/>
          <a:p>
            <a:pPr indent="0" marL="0">
              <a:lnSpc>
                <a:spcPts val="1800"/>
              </a:lnSpc>
              <a:buNone/>
            </a:pPr>
            <a:r>
              <a:rPr lang="en-US" sz="1300" dirty="0">
                <a:solidFill>
                  <a:srgbClr val="9B968C"/>
                </a:solidFill>
                <a:latin typeface="Calibri" pitchFamily="34" charset="0"/>
                <a:ea typeface="Calibri" pitchFamily="34" charset="-122"/>
                <a:cs typeface="Calibri" pitchFamily="34" charset="-120"/>
              </a:rPr>
              <a:t>Inaugural Feng Symposium keynote — May 18, 2024</a:t>
            </a:r>
            <a:endParaRPr lang="en-US" sz="1300" dirty="0"/>
          </a:p>
          <a:p>
            <a:pPr indent="0" marL="0">
              <a:lnSpc>
                <a:spcPts val="1800"/>
              </a:lnSpc>
              <a:buNone/>
            </a:pPr>
            <a:r>
              <a:rPr lang="en-US" sz="1300" dirty="0">
                <a:solidFill>
                  <a:srgbClr val="9B968C"/>
                </a:solidFill>
                <a:latin typeface="Calibri" pitchFamily="34" charset="0"/>
                <a:ea typeface="Calibri" pitchFamily="34" charset="-122"/>
                <a:cs typeface="Calibri" pitchFamily="34" charset="-120"/>
              </a:rPr>
              <a:t>He died seven months later, on December 10, 2024, at age 48.</a:t>
            </a:r>
            <a:endParaRPr lang="en-US" sz="1300" dirty="0"/>
          </a:p>
        </p:txBody>
      </p:sp>
      <p:sp>
        <p:nvSpPr>
          <p:cNvPr id="6" name="Text 4"/>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Cancer Letter</a:t>
            </a:r>
            <a:endParaRPr lang="en-US" sz="10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Five Questions, One Career</a:t>
            </a:r>
            <a:endParaRPr lang="en-US" sz="3000" dirty="0"/>
          </a:p>
        </p:txBody>
      </p:sp>
      <p:sp>
        <p:nvSpPr>
          <p:cNvPr id="4" name="Shape 2"/>
          <p:cNvSpPr/>
          <p:nvPr/>
        </p:nvSpPr>
        <p:spPr>
          <a:xfrm>
            <a:off x="640080" y="1965960"/>
            <a:ext cx="566928" cy="566928"/>
          </a:xfrm>
          <a:prstGeom prst="ellipse">
            <a:avLst/>
          </a:prstGeom>
          <a:solidFill>
            <a:srgbClr val="A3690C"/>
          </a:solidFill>
          <a:ln w="17780">
            <a:solidFill>
              <a:srgbClr val="A3690C"/>
            </a:solidFill>
            <a:prstDash val="solid"/>
          </a:ln>
        </p:spPr>
      </p:sp>
      <p:sp>
        <p:nvSpPr>
          <p:cNvPr id="5" name="Text 3"/>
          <p:cNvSpPr/>
          <p:nvPr/>
        </p:nvSpPr>
        <p:spPr>
          <a:xfrm>
            <a:off x="64008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417320" y="1984248"/>
            <a:ext cx="9601200" cy="548640"/>
          </a:xfrm>
          <a:prstGeom prst="rect">
            <a:avLst/>
          </a:prstGeom>
          <a:noFill/>
          <a:ln/>
        </p:spPr>
        <p:txBody>
          <a:bodyPr wrap="square" lIns="0" tIns="0" rIns="0" bIns="0" rtlCol="0" anchor="ctr"/>
          <a:lstStyle/>
          <a:p>
            <a:pPr indent="0" marL="0">
              <a:buNone/>
            </a:pPr>
            <a:r>
              <a:rPr lang="en-US" sz="1900" dirty="0">
                <a:solidFill>
                  <a:srgbClr val="201D18"/>
                </a:solidFill>
                <a:latin typeface="Calibri" pitchFamily="34" charset="0"/>
                <a:ea typeface="Calibri" pitchFamily="34" charset="-122"/>
                <a:cs typeface="Calibri" pitchFamily="34" charset="-120"/>
              </a:rPr>
              <a:t>Is prostate cancer one disease, or many?</a:t>
            </a:r>
            <a:endParaRPr lang="en-US" sz="1900" dirty="0"/>
          </a:p>
        </p:txBody>
      </p:sp>
      <p:sp>
        <p:nvSpPr>
          <p:cNvPr id="7" name="Shape 5"/>
          <p:cNvSpPr/>
          <p:nvPr/>
        </p:nvSpPr>
        <p:spPr>
          <a:xfrm>
            <a:off x="640080" y="2807208"/>
            <a:ext cx="566928" cy="566928"/>
          </a:xfrm>
          <a:prstGeom prst="ellipse">
            <a:avLst/>
          </a:prstGeom>
          <a:solidFill>
            <a:srgbClr val="FFFFFF"/>
          </a:solidFill>
          <a:ln w="17780">
            <a:solidFill>
              <a:srgbClr val="A3690C"/>
            </a:solidFill>
            <a:prstDash val="solid"/>
          </a:ln>
        </p:spPr>
      </p:sp>
      <p:sp>
        <p:nvSpPr>
          <p:cNvPr id="8" name="Text 6"/>
          <p:cNvSpPr/>
          <p:nvPr/>
        </p:nvSpPr>
        <p:spPr>
          <a:xfrm>
            <a:off x="640080" y="2807208"/>
            <a:ext cx="566928" cy="566928"/>
          </a:xfrm>
          <a:prstGeom prst="rect">
            <a:avLst/>
          </a:prstGeom>
          <a:noFill/>
          <a:ln/>
        </p:spPr>
        <p:txBody>
          <a:bodyPr wrap="square" lIns="0" tIns="0" rIns="0" bIns="0" rtlCol="0" anchor="ctr"/>
          <a:lstStyle/>
          <a:p>
            <a:pPr algn="ctr" indent="0" marL="0">
              <a:buNone/>
            </a:pPr>
            <a:r>
              <a:rPr lang="en-US" sz="2000" b="1" dirty="0">
                <a:solidFill>
                  <a:srgbClr val="A3690C"/>
                </a:solidFill>
                <a:latin typeface="Georgia" pitchFamily="34" charset="0"/>
                <a:ea typeface="Georgia" pitchFamily="34" charset="-122"/>
                <a:cs typeface="Georgia" pitchFamily="34" charset="-120"/>
              </a:rPr>
              <a:t>2</a:t>
            </a:r>
            <a:endParaRPr lang="en-US" sz="2000" dirty="0"/>
          </a:p>
        </p:txBody>
      </p:sp>
      <p:sp>
        <p:nvSpPr>
          <p:cNvPr id="9" name="Text 7"/>
          <p:cNvSpPr/>
          <p:nvPr/>
        </p:nvSpPr>
        <p:spPr>
          <a:xfrm>
            <a:off x="1417320" y="2825496"/>
            <a:ext cx="9601200" cy="548640"/>
          </a:xfrm>
          <a:prstGeom prst="rect">
            <a:avLst/>
          </a:prstGeom>
          <a:noFill/>
          <a:ln/>
        </p:spPr>
        <p:txBody>
          <a:bodyPr wrap="square" lIns="0" tIns="0" rIns="0" bIns="0" rtlCol="0" anchor="ctr"/>
          <a:lstStyle/>
          <a:p>
            <a:pPr indent="0" marL="0">
              <a:buNone/>
            </a:pPr>
            <a:r>
              <a:rPr lang="en-US" sz="1900" dirty="0">
                <a:solidFill>
                  <a:srgbClr val="201D18"/>
                </a:solidFill>
                <a:latin typeface="Calibri" pitchFamily="34" charset="0"/>
                <a:ea typeface="Calibri" pitchFamily="34" charset="-122"/>
                <a:cs typeface="Calibri" pitchFamily="34" charset="-120"/>
              </a:rPr>
              <a:t>What actually drives resistance to therapy?</a:t>
            </a:r>
            <a:endParaRPr lang="en-US" sz="1900" dirty="0"/>
          </a:p>
        </p:txBody>
      </p:sp>
      <p:sp>
        <p:nvSpPr>
          <p:cNvPr id="10" name="Shape 8"/>
          <p:cNvSpPr/>
          <p:nvPr/>
        </p:nvSpPr>
        <p:spPr>
          <a:xfrm>
            <a:off x="640080" y="3648456"/>
            <a:ext cx="566928" cy="566928"/>
          </a:xfrm>
          <a:prstGeom prst="ellipse">
            <a:avLst/>
          </a:prstGeom>
          <a:solidFill>
            <a:srgbClr val="FFFFFF"/>
          </a:solidFill>
          <a:ln w="17780">
            <a:solidFill>
              <a:srgbClr val="A3690C"/>
            </a:solidFill>
            <a:prstDash val="solid"/>
          </a:ln>
        </p:spPr>
      </p:sp>
      <p:sp>
        <p:nvSpPr>
          <p:cNvPr id="11" name="Text 9"/>
          <p:cNvSpPr/>
          <p:nvPr/>
        </p:nvSpPr>
        <p:spPr>
          <a:xfrm>
            <a:off x="640080" y="3648456"/>
            <a:ext cx="566928" cy="566928"/>
          </a:xfrm>
          <a:prstGeom prst="rect">
            <a:avLst/>
          </a:prstGeom>
          <a:noFill/>
          <a:ln/>
        </p:spPr>
        <p:txBody>
          <a:bodyPr wrap="square" lIns="0" tIns="0" rIns="0" bIns="0" rtlCol="0" anchor="ctr"/>
          <a:lstStyle/>
          <a:p>
            <a:pPr algn="ctr" indent="0" marL="0">
              <a:buNone/>
            </a:pPr>
            <a:r>
              <a:rPr lang="en-US" sz="2000" b="1" dirty="0">
                <a:solidFill>
                  <a:srgbClr val="A3690C"/>
                </a:solidFill>
                <a:latin typeface="Georgia" pitchFamily="34" charset="0"/>
                <a:ea typeface="Georgia" pitchFamily="34" charset="-122"/>
                <a:cs typeface="Georgia" pitchFamily="34" charset="-120"/>
              </a:rPr>
              <a:t>3</a:t>
            </a:r>
            <a:endParaRPr lang="en-US" sz="2000" dirty="0"/>
          </a:p>
        </p:txBody>
      </p:sp>
      <p:sp>
        <p:nvSpPr>
          <p:cNvPr id="12" name="Text 10"/>
          <p:cNvSpPr/>
          <p:nvPr/>
        </p:nvSpPr>
        <p:spPr>
          <a:xfrm>
            <a:off x="1417320" y="3666744"/>
            <a:ext cx="9601200" cy="548640"/>
          </a:xfrm>
          <a:prstGeom prst="rect">
            <a:avLst/>
          </a:prstGeom>
          <a:noFill/>
          <a:ln/>
        </p:spPr>
        <p:txBody>
          <a:bodyPr wrap="square" lIns="0" tIns="0" rIns="0" bIns="0" rtlCol="0" anchor="ctr"/>
          <a:lstStyle/>
          <a:p>
            <a:pPr indent="0" marL="0">
              <a:buNone/>
            </a:pPr>
            <a:r>
              <a:rPr lang="en-US" sz="1900" dirty="0">
                <a:solidFill>
                  <a:srgbClr val="201D18"/>
                </a:solidFill>
                <a:latin typeface="Calibri" pitchFamily="34" charset="0"/>
                <a:ea typeface="Calibri" pitchFamily="34" charset="-122"/>
                <a:cs typeface="Calibri" pitchFamily="34" charset="-120"/>
              </a:rPr>
              <a:t>How much treatment does this patient actually need?</a:t>
            </a:r>
            <a:endParaRPr lang="en-US" sz="1900" dirty="0"/>
          </a:p>
        </p:txBody>
      </p:sp>
      <p:sp>
        <p:nvSpPr>
          <p:cNvPr id="13" name="Shape 11"/>
          <p:cNvSpPr/>
          <p:nvPr/>
        </p:nvSpPr>
        <p:spPr>
          <a:xfrm>
            <a:off x="640080" y="4489704"/>
            <a:ext cx="566928" cy="566928"/>
          </a:xfrm>
          <a:prstGeom prst="ellipse">
            <a:avLst/>
          </a:prstGeom>
          <a:solidFill>
            <a:srgbClr val="FFFFFF"/>
          </a:solidFill>
          <a:ln w="17780">
            <a:solidFill>
              <a:srgbClr val="A3690C"/>
            </a:solidFill>
            <a:prstDash val="solid"/>
          </a:ln>
        </p:spPr>
      </p:sp>
      <p:sp>
        <p:nvSpPr>
          <p:cNvPr id="14" name="Text 12"/>
          <p:cNvSpPr/>
          <p:nvPr/>
        </p:nvSpPr>
        <p:spPr>
          <a:xfrm>
            <a:off x="640080" y="4489704"/>
            <a:ext cx="566928" cy="566928"/>
          </a:xfrm>
          <a:prstGeom prst="rect">
            <a:avLst/>
          </a:prstGeom>
          <a:noFill/>
          <a:ln/>
        </p:spPr>
        <p:txBody>
          <a:bodyPr wrap="square" lIns="0" tIns="0" rIns="0" bIns="0" rtlCol="0" anchor="ctr"/>
          <a:lstStyle/>
          <a:p>
            <a:pPr algn="ctr" indent="0" marL="0">
              <a:buNone/>
            </a:pPr>
            <a:r>
              <a:rPr lang="en-US" sz="2000" b="1" dirty="0">
                <a:solidFill>
                  <a:srgbClr val="A3690C"/>
                </a:solidFill>
                <a:latin typeface="Georgia" pitchFamily="34" charset="0"/>
                <a:ea typeface="Georgia" pitchFamily="34" charset="-122"/>
                <a:cs typeface="Georgia" pitchFamily="34" charset="-120"/>
              </a:rPr>
              <a:t>4</a:t>
            </a:r>
            <a:endParaRPr lang="en-US" sz="2000" dirty="0"/>
          </a:p>
        </p:txBody>
      </p:sp>
      <p:sp>
        <p:nvSpPr>
          <p:cNvPr id="15" name="Text 13"/>
          <p:cNvSpPr/>
          <p:nvPr/>
        </p:nvSpPr>
        <p:spPr>
          <a:xfrm>
            <a:off x="1417320" y="4507992"/>
            <a:ext cx="9601200" cy="548640"/>
          </a:xfrm>
          <a:prstGeom prst="rect">
            <a:avLst/>
          </a:prstGeom>
          <a:noFill/>
          <a:ln/>
        </p:spPr>
        <p:txBody>
          <a:bodyPr wrap="square" lIns="0" tIns="0" rIns="0" bIns="0" rtlCol="0" anchor="ctr"/>
          <a:lstStyle/>
          <a:p>
            <a:pPr indent="0" marL="0">
              <a:buNone/>
            </a:pPr>
            <a:r>
              <a:rPr lang="en-US" sz="1900" dirty="0">
                <a:solidFill>
                  <a:srgbClr val="201D18"/>
                </a:solidFill>
                <a:latin typeface="Calibri" pitchFamily="34" charset="0"/>
                <a:ea typeface="Calibri" pitchFamily="34" charset="-122"/>
                <a:cs typeface="Calibri" pitchFamily="34" charset="-120"/>
              </a:rPr>
              <a:t>Can a machine learn to treat the patient in front of us?</a:t>
            </a:r>
            <a:endParaRPr lang="en-US" sz="1900" dirty="0"/>
          </a:p>
        </p:txBody>
      </p:sp>
      <p:sp>
        <p:nvSpPr>
          <p:cNvPr id="16" name="Shape 14"/>
          <p:cNvSpPr/>
          <p:nvPr/>
        </p:nvSpPr>
        <p:spPr>
          <a:xfrm>
            <a:off x="640080" y="5330952"/>
            <a:ext cx="566928" cy="566928"/>
          </a:xfrm>
          <a:prstGeom prst="ellipse">
            <a:avLst/>
          </a:prstGeom>
          <a:solidFill>
            <a:srgbClr val="FFFFFF"/>
          </a:solidFill>
          <a:ln w="17780">
            <a:solidFill>
              <a:srgbClr val="A3690C"/>
            </a:solidFill>
            <a:prstDash val="solid"/>
          </a:ln>
        </p:spPr>
      </p:sp>
      <p:sp>
        <p:nvSpPr>
          <p:cNvPr id="17" name="Text 15"/>
          <p:cNvSpPr/>
          <p:nvPr/>
        </p:nvSpPr>
        <p:spPr>
          <a:xfrm>
            <a:off x="640080" y="5330952"/>
            <a:ext cx="566928" cy="566928"/>
          </a:xfrm>
          <a:prstGeom prst="rect">
            <a:avLst/>
          </a:prstGeom>
          <a:noFill/>
          <a:ln/>
        </p:spPr>
        <p:txBody>
          <a:bodyPr wrap="square" lIns="0" tIns="0" rIns="0" bIns="0" rtlCol="0" anchor="ctr"/>
          <a:lstStyle/>
          <a:p>
            <a:pPr algn="ctr" indent="0" marL="0">
              <a:buNone/>
            </a:pPr>
            <a:r>
              <a:rPr lang="en-US" sz="2000" b="1" dirty="0">
                <a:solidFill>
                  <a:srgbClr val="A3690C"/>
                </a:solidFill>
                <a:latin typeface="Georgia" pitchFamily="34" charset="0"/>
                <a:ea typeface="Georgia" pitchFamily="34" charset="-122"/>
                <a:cs typeface="Georgia" pitchFamily="34" charset="-120"/>
              </a:rPr>
              <a:t>5</a:t>
            </a:r>
            <a:endParaRPr lang="en-US" sz="2000" dirty="0"/>
          </a:p>
        </p:txBody>
      </p:sp>
      <p:sp>
        <p:nvSpPr>
          <p:cNvPr id="18" name="Text 16"/>
          <p:cNvSpPr/>
          <p:nvPr/>
        </p:nvSpPr>
        <p:spPr>
          <a:xfrm>
            <a:off x="1417320" y="5349240"/>
            <a:ext cx="9601200" cy="548640"/>
          </a:xfrm>
          <a:prstGeom prst="rect">
            <a:avLst/>
          </a:prstGeom>
          <a:noFill/>
          <a:ln/>
        </p:spPr>
        <p:txBody>
          <a:bodyPr wrap="square" lIns="0" tIns="0" rIns="0" bIns="0" rtlCol="0" anchor="ctr"/>
          <a:lstStyle/>
          <a:p>
            <a:pPr indent="0" marL="0">
              <a:buNone/>
            </a:pPr>
            <a:r>
              <a:rPr lang="en-US" sz="1900" dirty="0">
                <a:solidFill>
                  <a:srgbClr val="201D18"/>
                </a:solidFill>
                <a:latin typeface="Calibri" pitchFamily="34" charset="0"/>
                <a:ea typeface="Calibri" pitchFamily="34" charset="-122"/>
                <a:cs typeface="Calibri" pitchFamily="34" charset="-120"/>
              </a:rPr>
              <a:t>Does the science outlive the scientist?</a:t>
            </a:r>
            <a:endParaRPr lang="en-US" sz="1900" dirty="0"/>
          </a:p>
        </p:txBody>
      </p:sp>
      <p:sp>
        <p:nvSpPr>
          <p:cNvPr id="19" name="Text 17"/>
          <p:cNvSpPr/>
          <p:nvPr/>
        </p:nvSpPr>
        <p:spPr>
          <a:xfrm>
            <a:off x="640080" y="5989320"/>
            <a:ext cx="10515600" cy="548640"/>
          </a:xfrm>
          <a:prstGeom prst="rect">
            <a:avLst/>
          </a:prstGeom>
          <a:noFill/>
          <a:ln/>
        </p:spPr>
        <p:txBody>
          <a:bodyPr wrap="square" lIns="0" tIns="0" rIns="0" bIns="0" rtlCol="0" anchor="ctr"/>
          <a:lstStyle/>
          <a:p>
            <a:pPr indent="0" marL="0">
              <a:buNone/>
            </a:pPr>
            <a:r>
              <a:rPr lang="en-US" sz="1300" i="1" dirty="0">
                <a:solidFill>
                  <a:srgbClr val="6B6860"/>
                </a:solidFill>
                <a:latin typeface="Calibri" pitchFamily="34" charset="0"/>
                <a:ea typeface="Calibri" pitchFamily="34" charset="-122"/>
                <a:cs typeface="Calibri" pitchFamily="34" charset="-120"/>
              </a:rPr>
              <a:t>Read today through the lens of tumor ecology and evolution — the framework organizing three decades of my own laboratory’s work on this disease.</a:t>
            </a:r>
            <a:endParaRPr lang="en-US" sz="1300" dirty="0"/>
          </a:p>
        </p:txBody>
      </p:sp>
      <p:sp>
        <p:nvSpPr>
          <p:cNvPr id="20"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BEFORE THE QUESTIONS</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Felix Y. Feng, MD (1975–2024)</a:t>
            </a:r>
            <a:endParaRPr lang="en-US" sz="3000" dirty="0"/>
          </a:p>
        </p:txBody>
      </p:sp>
      <p:sp>
        <p:nvSpPr>
          <p:cNvPr id="4" name="Shape 2"/>
          <p:cNvSpPr/>
          <p:nvPr/>
        </p:nvSpPr>
        <p:spPr>
          <a:xfrm>
            <a:off x="640080" y="1947672"/>
            <a:ext cx="128016" cy="128016"/>
          </a:xfrm>
          <a:prstGeom prst="ellipse">
            <a:avLst/>
          </a:prstGeom>
          <a:solidFill>
            <a:srgbClr val="0F6E67"/>
          </a:solidFill>
          <a:ln/>
        </p:spPr>
      </p:sp>
      <p:sp>
        <p:nvSpPr>
          <p:cNvPr id="5" name="Text 3"/>
          <p:cNvSpPr/>
          <p:nvPr/>
        </p:nvSpPr>
        <p:spPr>
          <a:xfrm>
            <a:off x="914400" y="1874520"/>
            <a:ext cx="5120640" cy="310896"/>
          </a:xfrm>
          <a:prstGeom prst="rect">
            <a:avLst/>
          </a:prstGeom>
          <a:noFill/>
          <a:ln/>
        </p:spPr>
        <p:txBody>
          <a:bodyPr wrap="square" lIns="0" tIns="0" rIns="0" bIns="0" rtlCol="0" anchor="ctr"/>
          <a:lstStyle/>
          <a:p>
            <a:pPr indent="0" marL="0">
              <a:buNone/>
            </a:pPr>
            <a:r>
              <a:rPr lang="en-US" sz="1500" b="1" dirty="0">
                <a:solidFill>
                  <a:srgbClr val="201D18"/>
                </a:solidFill>
                <a:latin typeface="Calibri" pitchFamily="34" charset="0"/>
                <a:ea typeface="Calibri" pitchFamily="34" charset="-122"/>
                <a:cs typeface="Calibri" pitchFamily="34" charset="-120"/>
              </a:rPr>
              <a:t>Stanford University</a:t>
            </a:r>
            <a:endParaRPr lang="en-US" sz="1500" dirty="0"/>
          </a:p>
        </p:txBody>
      </p:sp>
      <p:sp>
        <p:nvSpPr>
          <p:cNvPr id="6" name="Text 4"/>
          <p:cNvSpPr/>
          <p:nvPr/>
        </p:nvSpPr>
        <p:spPr>
          <a:xfrm>
            <a:off x="914400" y="2176272"/>
            <a:ext cx="5120640" cy="365760"/>
          </a:xfrm>
          <a:prstGeom prst="rect">
            <a:avLst/>
          </a:prstGeom>
          <a:noFill/>
          <a:ln/>
        </p:spPr>
        <p:txBody>
          <a:bodyPr wrap="square" lIns="0" tIns="0" rIns="0" bIns="0" rtlCol="0" anchor="ctr"/>
          <a:lstStyle/>
          <a:p>
            <a:pPr indent="0" marL="0">
              <a:buNone/>
            </a:pPr>
            <a:r>
              <a:rPr lang="en-US" sz="1200" dirty="0">
                <a:solidFill>
                  <a:srgbClr val="6B6860"/>
                </a:solidFill>
                <a:latin typeface="Calibri" pitchFamily="34" charset="0"/>
                <a:ea typeface="Calibri" pitchFamily="34" charset="-122"/>
                <a:cs typeface="Calibri" pitchFamily="34" charset="-120"/>
              </a:rPr>
              <a:t>Undergraduate studies</a:t>
            </a:r>
            <a:endParaRPr lang="en-US" sz="1200" dirty="0"/>
          </a:p>
        </p:txBody>
      </p:sp>
      <p:sp>
        <p:nvSpPr>
          <p:cNvPr id="7" name="Shape 5"/>
          <p:cNvSpPr/>
          <p:nvPr/>
        </p:nvSpPr>
        <p:spPr>
          <a:xfrm>
            <a:off x="640080" y="2843784"/>
            <a:ext cx="128016" cy="128016"/>
          </a:xfrm>
          <a:prstGeom prst="ellipse">
            <a:avLst/>
          </a:prstGeom>
          <a:solidFill>
            <a:srgbClr val="0F6E67"/>
          </a:solidFill>
          <a:ln/>
        </p:spPr>
      </p:sp>
      <p:sp>
        <p:nvSpPr>
          <p:cNvPr id="8" name="Text 6"/>
          <p:cNvSpPr/>
          <p:nvPr/>
        </p:nvSpPr>
        <p:spPr>
          <a:xfrm>
            <a:off x="914400" y="2770632"/>
            <a:ext cx="5120640" cy="310896"/>
          </a:xfrm>
          <a:prstGeom prst="rect">
            <a:avLst/>
          </a:prstGeom>
          <a:noFill/>
          <a:ln/>
        </p:spPr>
        <p:txBody>
          <a:bodyPr wrap="square" lIns="0" tIns="0" rIns="0" bIns="0" rtlCol="0" anchor="ctr"/>
          <a:lstStyle/>
          <a:p>
            <a:pPr indent="0" marL="0">
              <a:buNone/>
            </a:pPr>
            <a:r>
              <a:rPr lang="en-US" sz="1500" b="1" dirty="0">
                <a:solidFill>
                  <a:srgbClr val="201D18"/>
                </a:solidFill>
                <a:latin typeface="Calibri" pitchFamily="34" charset="0"/>
                <a:ea typeface="Calibri" pitchFamily="34" charset="-122"/>
                <a:cs typeface="Calibri" pitchFamily="34" charset="-120"/>
              </a:rPr>
              <a:t>Washington University in St. Louis</a:t>
            </a:r>
            <a:endParaRPr lang="en-US" sz="1500" dirty="0"/>
          </a:p>
        </p:txBody>
      </p:sp>
      <p:sp>
        <p:nvSpPr>
          <p:cNvPr id="9" name="Text 7"/>
          <p:cNvSpPr/>
          <p:nvPr/>
        </p:nvSpPr>
        <p:spPr>
          <a:xfrm>
            <a:off x="914400" y="3072384"/>
            <a:ext cx="5120640" cy="365760"/>
          </a:xfrm>
          <a:prstGeom prst="rect">
            <a:avLst/>
          </a:prstGeom>
          <a:noFill/>
          <a:ln/>
        </p:spPr>
        <p:txBody>
          <a:bodyPr wrap="square" lIns="0" tIns="0" rIns="0" bIns="0" rtlCol="0" anchor="ctr"/>
          <a:lstStyle/>
          <a:p>
            <a:pPr indent="0" marL="0">
              <a:buNone/>
            </a:pPr>
            <a:r>
              <a:rPr lang="en-US" sz="1200" dirty="0">
                <a:solidFill>
                  <a:srgbClr val="6B6860"/>
                </a:solidFill>
                <a:latin typeface="Calibri" pitchFamily="34" charset="0"/>
                <a:ea typeface="Calibri" pitchFamily="34" charset="-122"/>
                <a:cs typeface="Calibri" pitchFamily="34" charset="-120"/>
              </a:rPr>
              <a:t>Medical school</a:t>
            </a:r>
            <a:endParaRPr lang="en-US" sz="1200" dirty="0"/>
          </a:p>
        </p:txBody>
      </p:sp>
      <p:sp>
        <p:nvSpPr>
          <p:cNvPr id="10" name="Shape 8"/>
          <p:cNvSpPr/>
          <p:nvPr/>
        </p:nvSpPr>
        <p:spPr>
          <a:xfrm>
            <a:off x="640080" y="3739896"/>
            <a:ext cx="128016" cy="128016"/>
          </a:xfrm>
          <a:prstGeom prst="ellipse">
            <a:avLst/>
          </a:prstGeom>
          <a:solidFill>
            <a:srgbClr val="0F6E67"/>
          </a:solidFill>
          <a:ln/>
        </p:spPr>
      </p:sp>
      <p:sp>
        <p:nvSpPr>
          <p:cNvPr id="11" name="Text 9"/>
          <p:cNvSpPr/>
          <p:nvPr/>
        </p:nvSpPr>
        <p:spPr>
          <a:xfrm>
            <a:off x="914400" y="3666744"/>
            <a:ext cx="5120640" cy="310896"/>
          </a:xfrm>
          <a:prstGeom prst="rect">
            <a:avLst/>
          </a:prstGeom>
          <a:noFill/>
          <a:ln/>
        </p:spPr>
        <p:txBody>
          <a:bodyPr wrap="square" lIns="0" tIns="0" rIns="0" bIns="0" rtlCol="0" anchor="ctr"/>
          <a:lstStyle/>
          <a:p>
            <a:pPr indent="0" marL="0">
              <a:buNone/>
            </a:pPr>
            <a:r>
              <a:rPr lang="en-US" sz="1500" b="1" dirty="0">
                <a:solidFill>
                  <a:srgbClr val="201D18"/>
                </a:solidFill>
                <a:latin typeface="Calibri" pitchFamily="34" charset="0"/>
                <a:ea typeface="Calibri" pitchFamily="34" charset="-122"/>
                <a:cs typeface="Calibri" pitchFamily="34" charset="-120"/>
              </a:rPr>
              <a:t>University of Michigan</a:t>
            </a:r>
            <a:endParaRPr lang="en-US" sz="1500" dirty="0"/>
          </a:p>
        </p:txBody>
      </p:sp>
      <p:sp>
        <p:nvSpPr>
          <p:cNvPr id="12" name="Text 10"/>
          <p:cNvSpPr/>
          <p:nvPr/>
        </p:nvSpPr>
        <p:spPr>
          <a:xfrm>
            <a:off x="914400" y="3968496"/>
            <a:ext cx="5120640" cy="365760"/>
          </a:xfrm>
          <a:prstGeom prst="rect">
            <a:avLst/>
          </a:prstGeom>
          <a:noFill/>
          <a:ln/>
        </p:spPr>
        <p:txBody>
          <a:bodyPr wrap="square" lIns="0" tIns="0" rIns="0" bIns="0" rtlCol="0" anchor="ctr"/>
          <a:lstStyle/>
          <a:p>
            <a:pPr indent="0" marL="0">
              <a:buNone/>
            </a:pPr>
            <a:r>
              <a:rPr lang="en-US" sz="1200" dirty="0">
                <a:solidFill>
                  <a:srgbClr val="6B6860"/>
                </a:solidFill>
                <a:latin typeface="Calibri" pitchFamily="34" charset="0"/>
                <a:ea typeface="Calibri" pitchFamily="34" charset="-122"/>
                <a:cs typeface="Calibri" pitchFamily="34" charset="-120"/>
              </a:rPr>
              <a:t>Residency, then faculty 2007–2016 (Chinnaiyan laboratory)</a:t>
            </a:r>
            <a:endParaRPr lang="en-US" sz="1200" dirty="0"/>
          </a:p>
        </p:txBody>
      </p:sp>
      <p:sp>
        <p:nvSpPr>
          <p:cNvPr id="13" name="Shape 11"/>
          <p:cNvSpPr/>
          <p:nvPr/>
        </p:nvSpPr>
        <p:spPr>
          <a:xfrm>
            <a:off x="640080" y="4636008"/>
            <a:ext cx="128016" cy="128016"/>
          </a:xfrm>
          <a:prstGeom prst="ellipse">
            <a:avLst/>
          </a:prstGeom>
          <a:solidFill>
            <a:srgbClr val="0F6E67"/>
          </a:solidFill>
          <a:ln/>
        </p:spPr>
      </p:sp>
      <p:sp>
        <p:nvSpPr>
          <p:cNvPr id="14" name="Text 12"/>
          <p:cNvSpPr/>
          <p:nvPr/>
        </p:nvSpPr>
        <p:spPr>
          <a:xfrm>
            <a:off x="914400" y="4562856"/>
            <a:ext cx="5120640" cy="310896"/>
          </a:xfrm>
          <a:prstGeom prst="rect">
            <a:avLst/>
          </a:prstGeom>
          <a:noFill/>
          <a:ln/>
        </p:spPr>
        <p:txBody>
          <a:bodyPr wrap="square" lIns="0" tIns="0" rIns="0" bIns="0" rtlCol="0" anchor="ctr"/>
          <a:lstStyle/>
          <a:p>
            <a:pPr indent="0" marL="0">
              <a:buNone/>
            </a:pPr>
            <a:r>
              <a:rPr lang="en-US" sz="1500" b="1" dirty="0">
                <a:solidFill>
                  <a:srgbClr val="201D18"/>
                </a:solidFill>
                <a:latin typeface="Calibri" pitchFamily="34" charset="0"/>
                <a:ea typeface="Calibri" pitchFamily="34" charset="-122"/>
                <a:cs typeface="Calibri" pitchFamily="34" charset="-120"/>
              </a:rPr>
              <a:t>UCSF</a:t>
            </a:r>
            <a:endParaRPr lang="en-US" sz="1500" dirty="0"/>
          </a:p>
        </p:txBody>
      </p:sp>
      <p:sp>
        <p:nvSpPr>
          <p:cNvPr id="15" name="Text 13"/>
          <p:cNvSpPr/>
          <p:nvPr/>
        </p:nvSpPr>
        <p:spPr>
          <a:xfrm>
            <a:off x="914400" y="4864608"/>
            <a:ext cx="5120640" cy="365760"/>
          </a:xfrm>
          <a:prstGeom prst="rect">
            <a:avLst/>
          </a:prstGeom>
          <a:noFill/>
          <a:ln/>
        </p:spPr>
        <p:txBody>
          <a:bodyPr wrap="square" lIns="0" tIns="0" rIns="0" bIns="0" rtlCol="0" anchor="ctr"/>
          <a:lstStyle/>
          <a:p>
            <a:pPr indent="0" marL="0">
              <a:buNone/>
            </a:pPr>
            <a:r>
              <a:rPr lang="en-US" sz="1200" dirty="0">
                <a:solidFill>
                  <a:srgbClr val="6B6860"/>
                </a:solidFill>
                <a:latin typeface="Calibri" pitchFamily="34" charset="0"/>
                <a:ea typeface="Calibri" pitchFamily="34" charset="-122"/>
                <a:cs typeface="Calibri" pitchFamily="34" charset="-120"/>
              </a:rPr>
              <a:t>Faculty 2016–2024, Vice Chair for Translational Research</a:t>
            </a:r>
            <a:endParaRPr lang="en-US" sz="1200" dirty="0"/>
          </a:p>
        </p:txBody>
      </p:sp>
      <p:sp>
        <p:nvSpPr>
          <p:cNvPr id="16" name="Shape 14"/>
          <p:cNvSpPr/>
          <p:nvPr/>
        </p:nvSpPr>
        <p:spPr>
          <a:xfrm>
            <a:off x="6400800" y="1828800"/>
            <a:ext cx="5120640" cy="841248"/>
          </a:xfrm>
          <a:prstGeom prst="rect">
            <a:avLst/>
          </a:prstGeom>
          <a:solidFill>
            <a:srgbClr val="FFFFFF"/>
          </a:solidFill>
          <a:ln w="12700">
            <a:solidFill>
              <a:srgbClr val="E2DDD2"/>
            </a:solidFill>
            <a:prstDash val="solid"/>
          </a:ln>
        </p:spPr>
      </p:sp>
      <p:sp>
        <p:nvSpPr>
          <p:cNvPr id="17" name="Text 15"/>
          <p:cNvSpPr/>
          <p:nvPr/>
        </p:nvSpPr>
        <p:spPr>
          <a:xfrm>
            <a:off x="6629400" y="1901952"/>
            <a:ext cx="1737360" cy="694944"/>
          </a:xfrm>
          <a:prstGeom prst="rect">
            <a:avLst/>
          </a:prstGeom>
          <a:noFill/>
          <a:ln/>
        </p:spPr>
        <p:txBody>
          <a:bodyPr wrap="square" lIns="0" tIns="0" rIns="0" bIns="0" rtlCol="0" anchor="ctr"/>
          <a:lstStyle/>
          <a:p>
            <a:pPr indent="0" marL="0">
              <a:buNone/>
            </a:pPr>
            <a:r>
              <a:rPr lang="en-US" sz="2200" b="1" dirty="0">
                <a:solidFill>
                  <a:srgbClr val="A3690C"/>
                </a:solidFill>
                <a:latin typeface="Georgia" pitchFamily="34" charset="0"/>
                <a:ea typeface="Georgia" pitchFamily="34" charset="-122"/>
                <a:cs typeface="Georgia" pitchFamily="34" charset="-120"/>
              </a:rPr>
              <a:t>500+</a:t>
            </a:r>
            <a:endParaRPr lang="en-US" sz="2200" dirty="0"/>
          </a:p>
        </p:txBody>
      </p:sp>
      <p:sp>
        <p:nvSpPr>
          <p:cNvPr id="18" name="Text 16"/>
          <p:cNvSpPr/>
          <p:nvPr/>
        </p:nvSpPr>
        <p:spPr>
          <a:xfrm>
            <a:off x="8321040" y="1901952"/>
            <a:ext cx="3063240" cy="694944"/>
          </a:xfrm>
          <a:prstGeom prst="rect">
            <a:avLst/>
          </a:prstGeom>
          <a:noFill/>
          <a:ln/>
        </p:spPr>
        <p:txBody>
          <a:bodyPr wrap="square" lIns="0" tIns="0" rIns="0" bIns="0" rtlCol="0" anchor="ctr"/>
          <a:lstStyle/>
          <a:p>
            <a:pPr indent="0" marL="0">
              <a:lnSpc>
                <a:spcPts val="1400"/>
              </a:lnSpc>
              <a:buNone/>
            </a:pPr>
            <a:r>
              <a:rPr lang="en-US" sz="1150" dirty="0">
                <a:solidFill>
                  <a:srgbClr val="201D18"/>
                </a:solidFill>
                <a:latin typeface="Calibri" pitchFamily="34" charset="0"/>
                <a:ea typeface="Calibri" pitchFamily="34" charset="-122"/>
                <a:cs typeface="Calibri" pitchFamily="34" charset="-120"/>
              </a:rPr>
              <a:t>peer-reviewed publications</a:t>
            </a:r>
            <a:endParaRPr lang="en-US" sz="1150" dirty="0"/>
          </a:p>
        </p:txBody>
      </p:sp>
      <p:sp>
        <p:nvSpPr>
          <p:cNvPr id="19" name="Shape 17"/>
          <p:cNvSpPr/>
          <p:nvPr/>
        </p:nvSpPr>
        <p:spPr>
          <a:xfrm>
            <a:off x="6400800" y="2816352"/>
            <a:ext cx="5120640" cy="841248"/>
          </a:xfrm>
          <a:prstGeom prst="rect">
            <a:avLst/>
          </a:prstGeom>
          <a:solidFill>
            <a:srgbClr val="FFFFFF"/>
          </a:solidFill>
          <a:ln w="12700">
            <a:solidFill>
              <a:srgbClr val="E2DDD2"/>
            </a:solidFill>
            <a:prstDash val="solid"/>
          </a:ln>
        </p:spPr>
      </p:sp>
      <p:sp>
        <p:nvSpPr>
          <p:cNvPr id="20" name="Text 18"/>
          <p:cNvSpPr/>
          <p:nvPr/>
        </p:nvSpPr>
        <p:spPr>
          <a:xfrm>
            <a:off x="6629400" y="2889504"/>
            <a:ext cx="1737360" cy="694944"/>
          </a:xfrm>
          <a:prstGeom prst="rect">
            <a:avLst/>
          </a:prstGeom>
          <a:noFill/>
          <a:ln/>
        </p:spPr>
        <p:txBody>
          <a:bodyPr wrap="square" lIns="0" tIns="0" rIns="0" bIns="0" rtlCol="0" anchor="ctr"/>
          <a:lstStyle/>
          <a:p>
            <a:pPr indent="0" marL="0">
              <a:buNone/>
            </a:pPr>
            <a:r>
              <a:rPr lang="en-US" sz="2200" b="1" dirty="0">
                <a:solidFill>
                  <a:srgbClr val="A3690C"/>
                </a:solidFill>
                <a:latin typeface="Georgia" pitchFamily="34" charset="0"/>
                <a:ea typeface="Georgia" pitchFamily="34" charset="-122"/>
                <a:cs typeface="Georgia" pitchFamily="34" charset="-120"/>
              </a:rPr>
              <a:t>3,219</a:t>
            </a:r>
            <a:endParaRPr lang="en-US" sz="2200" dirty="0"/>
          </a:p>
        </p:txBody>
      </p:sp>
      <p:sp>
        <p:nvSpPr>
          <p:cNvPr id="21" name="Text 19"/>
          <p:cNvSpPr/>
          <p:nvPr/>
        </p:nvSpPr>
        <p:spPr>
          <a:xfrm>
            <a:off x="8321040" y="2889504"/>
            <a:ext cx="3063240" cy="694944"/>
          </a:xfrm>
          <a:prstGeom prst="rect">
            <a:avLst/>
          </a:prstGeom>
          <a:noFill/>
          <a:ln/>
        </p:spPr>
        <p:txBody>
          <a:bodyPr wrap="square" lIns="0" tIns="0" rIns="0" bIns="0" rtlCol="0" anchor="ctr"/>
          <a:lstStyle/>
          <a:p>
            <a:pPr indent="0" marL="0">
              <a:lnSpc>
                <a:spcPts val="1400"/>
              </a:lnSpc>
              <a:buNone/>
            </a:pPr>
            <a:r>
              <a:rPr lang="en-US" sz="1150" dirty="0">
                <a:solidFill>
                  <a:srgbClr val="201D18"/>
                </a:solidFill>
                <a:latin typeface="Calibri" pitchFamily="34" charset="0"/>
                <a:ea typeface="Calibri" pitchFamily="34" charset="-122"/>
                <a:cs typeface="Calibri" pitchFamily="34" charset="-120"/>
              </a:rPr>
              <a:t>distinct co-authors on record</a:t>
            </a:r>
            <a:endParaRPr lang="en-US" sz="1150" dirty="0"/>
          </a:p>
        </p:txBody>
      </p:sp>
      <p:sp>
        <p:nvSpPr>
          <p:cNvPr id="22" name="Shape 20"/>
          <p:cNvSpPr/>
          <p:nvPr/>
        </p:nvSpPr>
        <p:spPr>
          <a:xfrm>
            <a:off x="6400800" y="3803904"/>
            <a:ext cx="5120640" cy="841248"/>
          </a:xfrm>
          <a:prstGeom prst="rect">
            <a:avLst/>
          </a:prstGeom>
          <a:solidFill>
            <a:srgbClr val="FFFFFF"/>
          </a:solidFill>
          <a:ln w="12700">
            <a:solidFill>
              <a:srgbClr val="E2DDD2"/>
            </a:solidFill>
            <a:prstDash val="solid"/>
          </a:ln>
        </p:spPr>
      </p:sp>
      <p:sp>
        <p:nvSpPr>
          <p:cNvPr id="23" name="Text 21"/>
          <p:cNvSpPr/>
          <p:nvPr/>
        </p:nvSpPr>
        <p:spPr>
          <a:xfrm>
            <a:off x="6629400" y="3877056"/>
            <a:ext cx="1737360" cy="694944"/>
          </a:xfrm>
          <a:prstGeom prst="rect">
            <a:avLst/>
          </a:prstGeom>
          <a:noFill/>
          <a:ln/>
        </p:spPr>
        <p:txBody>
          <a:bodyPr wrap="square" lIns="0" tIns="0" rIns="0" bIns="0" rtlCol="0" anchor="ctr"/>
          <a:lstStyle/>
          <a:p>
            <a:pPr indent="0" marL="0">
              <a:buNone/>
            </a:pPr>
            <a:r>
              <a:rPr lang="en-US" sz="2200" b="1" dirty="0">
                <a:solidFill>
                  <a:srgbClr val="A3690C"/>
                </a:solidFill>
                <a:latin typeface="Georgia" pitchFamily="34" charset="0"/>
                <a:ea typeface="Georgia" pitchFamily="34" charset="-122"/>
                <a:cs typeface="Georgia" pitchFamily="34" charset="-120"/>
              </a:rPr>
              <a:t>2018–2024</a:t>
            </a:r>
            <a:endParaRPr lang="en-US" sz="2200" dirty="0"/>
          </a:p>
        </p:txBody>
      </p:sp>
      <p:sp>
        <p:nvSpPr>
          <p:cNvPr id="24" name="Text 22"/>
          <p:cNvSpPr/>
          <p:nvPr/>
        </p:nvSpPr>
        <p:spPr>
          <a:xfrm>
            <a:off x="8321040" y="3877056"/>
            <a:ext cx="3063240" cy="694944"/>
          </a:xfrm>
          <a:prstGeom prst="rect">
            <a:avLst/>
          </a:prstGeom>
          <a:noFill/>
          <a:ln/>
        </p:spPr>
        <p:txBody>
          <a:bodyPr wrap="square" lIns="0" tIns="0" rIns="0" bIns="0" rtlCol="0" anchor="ctr"/>
          <a:lstStyle/>
          <a:p>
            <a:pPr indent="0" marL="0">
              <a:lnSpc>
                <a:spcPts val="1400"/>
              </a:lnSpc>
              <a:buNone/>
            </a:pPr>
            <a:r>
              <a:rPr lang="en-US" sz="1150" dirty="0">
                <a:solidFill>
                  <a:srgbClr val="201D18"/>
                </a:solidFill>
                <a:latin typeface="Calibri" pitchFamily="34" charset="0"/>
                <a:ea typeface="Calibri" pitchFamily="34" charset="-122"/>
                <a:cs typeface="Calibri" pitchFamily="34" charset="-120"/>
              </a:rPr>
              <a:t>Chair, NRG Oncology GU Cancer Committee</a:t>
            </a:r>
            <a:endParaRPr lang="en-US" sz="1150" dirty="0"/>
          </a:p>
        </p:txBody>
      </p:sp>
      <p:sp>
        <p:nvSpPr>
          <p:cNvPr id="25" name="Shape 23"/>
          <p:cNvSpPr/>
          <p:nvPr/>
        </p:nvSpPr>
        <p:spPr>
          <a:xfrm>
            <a:off x="6400800" y="4791456"/>
            <a:ext cx="5120640" cy="841248"/>
          </a:xfrm>
          <a:prstGeom prst="rect">
            <a:avLst/>
          </a:prstGeom>
          <a:solidFill>
            <a:srgbClr val="FFFFFF"/>
          </a:solidFill>
          <a:ln w="12700">
            <a:solidFill>
              <a:srgbClr val="E2DDD2"/>
            </a:solidFill>
            <a:prstDash val="solid"/>
          </a:ln>
        </p:spPr>
      </p:sp>
      <p:sp>
        <p:nvSpPr>
          <p:cNvPr id="26" name="Text 24"/>
          <p:cNvSpPr/>
          <p:nvPr/>
        </p:nvSpPr>
        <p:spPr>
          <a:xfrm>
            <a:off x="6629400" y="4864608"/>
            <a:ext cx="1737360" cy="694944"/>
          </a:xfrm>
          <a:prstGeom prst="rect">
            <a:avLst/>
          </a:prstGeom>
          <a:noFill/>
          <a:ln/>
        </p:spPr>
        <p:txBody>
          <a:bodyPr wrap="square" lIns="0" tIns="0" rIns="0" bIns="0" rtlCol="0" anchor="ctr"/>
          <a:lstStyle/>
          <a:p>
            <a:pPr indent="0" marL="0">
              <a:buNone/>
            </a:pPr>
            <a:r>
              <a:rPr lang="en-US" sz="2200" b="1" dirty="0">
                <a:solidFill>
                  <a:srgbClr val="A3690C"/>
                </a:solidFill>
                <a:latin typeface="Georgia" pitchFamily="34" charset="0"/>
                <a:ea typeface="Georgia" pitchFamily="34" charset="-122"/>
                <a:cs typeface="Georgia" pitchFamily="34" charset="-120"/>
              </a:rPr>
              <a:t>2019–2024</a:t>
            </a:r>
            <a:endParaRPr lang="en-US" sz="2200" dirty="0"/>
          </a:p>
        </p:txBody>
      </p:sp>
      <p:sp>
        <p:nvSpPr>
          <p:cNvPr id="27" name="Text 25"/>
          <p:cNvSpPr/>
          <p:nvPr/>
        </p:nvSpPr>
        <p:spPr>
          <a:xfrm>
            <a:off x="8321040" y="4864608"/>
            <a:ext cx="3063240" cy="694944"/>
          </a:xfrm>
          <a:prstGeom prst="rect">
            <a:avLst/>
          </a:prstGeom>
          <a:noFill/>
          <a:ln/>
        </p:spPr>
        <p:txBody>
          <a:bodyPr wrap="square" lIns="0" tIns="0" rIns="0" bIns="0" rtlCol="0" anchor="ctr"/>
          <a:lstStyle/>
          <a:p>
            <a:pPr indent="0" marL="0">
              <a:lnSpc>
                <a:spcPts val="1400"/>
              </a:lnSpc>
              <a:buNone/>
            </a:pPr>
            <a:r>
              <a:rPr lang="en-US" sz="1150" dirty="0">
                <a:solidFill>
                  <a:srgbClr val="201D18"/>
                </a:solidFill>
                <a:latin typeface="Calibri" pitchFamily="34" charset="0"/>
                <a:ea typeface="Calibri" pitchFamily="34" charset="-122"/>
                <a:cs typeface="Calibri" pitchFamily="34" charset="-120"/>
              </a:rPr>
              <a:t>Founding Director, Benioff Initiative for Prostate Cancer</a:t>
            </a:r>
            <a:endParaRPr lang="en-US" sz="1150" dirty="0"/>
          </a:p>
        </p:txBody>
      </p:sp>
      <p:sp>
        <p:nvSpPr>
          <p:cNvPr id="28" name="Text 26"/>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UCSF News</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Cancer Letter</a:t>
            </a:r>
            <a:endParaRPr lang="en-US" sz="1000" dirty="0"/>
          </a:p>
        </p:txBody>
      </p:sp>
      <p:sp>
        <p:nvSpPr>
          <p:cNvPr id="29" name="Text 2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A COMPANION ARTIFACT</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The Corpus, Visualized</a:t>
            </a:r>
            <a:endParaRPr lang="en-US" sz="3000" dirty="0"/>
          </a:p>
        </p:txBody>
      </p:sp>
      <p:pic>
        <p:nvPicPr>
          <p:cNvPr id="4" name="Image 0" descr="/home/user/workspace/feng_project/slides/graph_shot_cropped.png">    </p:cNvPr>
          <p:cNvPicPr>
            <a:picLocks noChangeAspect="1"/>
          </p:cNvPicPr>
          <p:nvPr/>
        </p:nvPicPr>
        <p:blipFill>
          <a:blip r:embed="rId1"/>
          <a:srcRect l="0" r="0" t="0" b="0"/>
          <a:stretch/>
        </p:blipFill>
        <p:spPr>
          <a:xfrm>
            <a:off x="640080" y="1737360"/>
            <a:ext cx="7589520" cy="4187952"/>
          </a:xfrm>
          <a:prstGeom prst="rect">
            <a:avLst/>
          </a:prstGeom>
        </p:spPr>
      </p:pic>
      <p:sp>
        <p:nvSpPr>
          <p:cNvPr id="5" name="Text 2"/>
          <p:cNvSpPr/>
          <p:nvPr/>
        </p:nvSpPr>
        <p:spPr>
          <a:xfrm>
            <a:off x="8458200" y="1920240"/>
            <a:ext cx="3108960" cy="1188720"/>
          </a:xfrm>
          <a:prstGeom prst="rect">
            <a:avLst/>
          </a:prstGeom>
          <a:noFill/>
          <a:ln/>
        </p:spPr>
        <p:txBody>
          <a:bodyPr wrap="square" lIns="0" tIns="0" rIns="0" bIns="0" rtlCol="0" anchor="ctr"/>
          <a:lstStyle/>
          <a:p>
            <a:pPr indent="0" marL="0">
              <a:lnSpc>
                <a:spcPts val="1900"/>
              </a:lnSpc>
              <a:buNone/>
            </a:pPr>
            <a:r>
              <a:rPr lang="en-US" sz="1400" dirty="0">
                <a:solidFill>
                  <a:srgbClr val="201D18"/>
                </a:solidFill>
                <a:latin typeface="Calibri" pitchFamily="34" charset="0"/>
                <a:ea typeface="Calibri" pitchFamily="34" charset="-122"/>
                <a:cs typeface="Calibri" pitchFamily="34" charset="-120"/>
              </a:rPr>
              <a:t xml:space="preserve">We built an interactive knowledge graph from </a:t>
            </a:r>
            <a:pPr indent="0" marL="0">
              <a:lnSpc>
                <a:spcPts val="1900"/>
              </a:lnSpc>
              <a:buNone/>
            </a:pPr>
            <a:r>
              <a:rPr lang="en-US" sz="1400" b="1" dirty="0">
                <a:solidFill>
                  <a:srgbClr val="A3690C"/>
                </a:solidFill>
                <a:latin typeface="Calibri" pitchFamily="34" charset="0"/>
                <a:ea typeface="Calibri" pitchFamily="34" charset="-122"/>
                <a:cs typeface="Calibri" pitchFamily="34" charset="-120"/>
              </a:rPr>
              <a:t>451</a:t>
            </a:r>
            <a:pPr indent="0" marL="0">
              <a:lnSpc>
                <a:spcPts val="1900"/>
              </a:lnSpc>
              <a:buNone/>
            </a:pPr>
            <a:r>
              <a:rPr lang="en-US" sz="1400" dirty="0">
                <a:solidFill>
                  <a:srgbClr val="201D18"/>
                </a:solidFill>
                <a:latin typeface="Calibri" pitchFamily="34" charset="0"/>
                <a:ea typeface="Calibri" pitchFamily="34" charset="-122"/>
                <a:cs typeface="Calibri" pitchFamily="34" charset="-120"/>
              </a:rPr>
              <a:t xml:space="preserve"> of his PubMed-indexed papers.</a:t>
            </a:r>
            <a:endParaRPr lang="en-US" sz="1400" dirty="0"/>
          </a:p>
        </p:txBody>
      </p:sp>
      <p:sp>
        <p:nvSpPr>
          <p:cNvPr id="6" name="Text 3"/>
          <p:cNvSpPr/>
          <p:nvPr/>
        </p:nvSpPr>
        <p:spPr>
          <a:xfrm>
            <a:off x="8458200" y="3200400"/>
            <a:ext cx="3108960" cy="1463040"/>
          </a:xfrm>
          <a:prstGeom prst="rect">
            <a:avLst/>
          </a:prstGeom>
          <a:noFill/>
          <a:ln/>
        </p:spPr>
        <p:txBody>
          <a:bodyPr wrap="square" lIns="0" tIns="0" rIns="0" bIns="0" rtlCol="0" anchor="ctr"/>
          <a:lstStyle/>
          <a:p>
            <a:pPr indent="0" marL="0">
              <a:lnSpc>
                <a:spcPts val="1700"/>
              </a:lnSpc>
              <a:buNone/>
            </a:pPr>
            <a:r>
              <a:rPr lang="en-US" sz="1200" dirty="0">
                <a:solidFill>
                  <a:srgbClr val="6B6860"/>
                </a:solidFill>
                <a:latin typeface="Calibri" pitchFamily="34" charset="0"/>
                <a:ea typeface="Calibri" pitchFamily="34" charset="-122"/>
                <a:cs typeface="Calibri" pitchFamily="34" charset="-120"/>
              </a:rPr>
              <a:t>Every node is derived directly from the publication record: research themes, collaborators, and the papers that first established each one.</a:t>
            </a:r>
            <a:endParaRPr lang="en-US" sz="1200" dirty="0"/>
          </a:p>
        </p:txBody>
      </p:sp>
      <p:sp>
        <p:nvSpPr>
          <p:cNvPr id="7" name="Text 4">
            <a:hlinkClick r:id="rId2" tooltip=""/>
          </p:cNvPr>
          <p:cNvSpPr/>
          <p:nvPr/>
        </p:nvSpPr>
        <p:spPr>
          <a:xfrm>
            <a:off x="8458200" y="4846320"/>
            <a:ext cx="3108960" cy="365760"/>
          </a:xfrm>
          <a:prstGeom prst="rect">
            <a:avLst/>
          </a:prstGeom>
          <a:noFill/>
          <a:ln/>
        </p:spPr>
        <p:txBody>
          <a:bodyPr wrap="square" lIns="0" tIns="0" rIns="0" bIns="0" rtlCol="0" anchor="ctr"/>
          <a:lstStyle/>
          <a:p>
            <a:pPr indent="0" marL="0">
              <a:buNone/>
            </a:pPr>
            <a:r>
              <a:rPr lang="en-US" sz="1200" b="1" u="sng" dirty="0">
                <a:solidFill>
                  <a:srgbClr val="0F6E67"/>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github.com/kpienta-cloud/FENG</a:t>
            </a:r>
            <a:endParaRPr lang="en-US" sz="1200" dirty="0"/>
          </a:p>
        </p:txBody>
      </p:sp>
      <p:sp>
        <p:nvSpPr>
          <p:cNvPr id="8"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920240"/>
            <a:ext cx="7315200" cy="365760"/>
          </a:xfrm>
          <a:prstGeom prst="rect">
            <a:avLst/>
          </a:prstGeom>
          <a:noFill/>
          <a:ln/>
        </p:spPr>
        <p:txBody>
          <a:bodyPr wrap="square" lIns="0" tIns="0" rIns="0" bIns="0" rtlCol="0" anchor="ctr"/>
          <a:lstStyle/>
          <a:p>
            <a:pPr indent="0" marL="0">
              <a:buNone/>
            </a:pPr>
            <a:r>
              <a:rPr lang="en-US" sz="1400" b="1" spc="200" kern="0" dirty="0">
                <a:solidFill>
                  <a:srgbClr val="A3690C"/>
                </a:solidFill>
                <a:latin typeface="Calibri" pitchFamily="34" charset="0"/>
                <a:ea typeface="Calibri" pitchFamily="34" charset="-122"/>
                <a:cs typeface="Calibri" pitchFamily="34" charset="-120"/>
              </a:rPr>
              <a:t>QUESTION 1</a:t>
            </a:r>
            <a:endParaRPr lang="en-US" sz="1400" dirty="0"/>
          </a:p>
        </p:txBody>
      </p:sp>
      <p:sp>
        <p:nvSpPr>
          <p:cNvPr id="3" name="Text 1"/>
          <p:cNvSpPr/>
          <p:nvPr/>
        </p:nvSpPr>
        <p:spPr>
          <a:xfrm>
            <a:off x="9052560" y="914400"/>
            <a:ext cx="2560320" cy="2011680"/>
          </a:xfrm>
          <a:prstGeom prst="rect">
            <a:avLst/>
          </a:prstGeom>
          <a:noFill/>
          <a:ln/>
        </p:spPr>
        <p:txBody>
          <a:bodyPr wrap="square" lIns="0" tIns="0" rIns="0" bIns="0" rtlCol="0" anchor="ctr"/>
          <a:lstStyle/>
          <a:p>
            <a:pPr algn="r" indent="0" marL="0">
              <a:buNone/>
            </a:pPr>
            <a:r>
              <a:rPr lang="en-US" sz="11000" b="1" dirty="0">
                <a:solidFill>
                  <a:srgbClr val="23282E"/>
                </a:solidFill>
                <a:latin typeface="Georgia" pitchFamily="34" charset="0"/>
                <a:ea typeface="Georgia" pitchFamily="34" charset="-122"/>
                <a:cs typeface="Georgia" pitchFamily="34" charset="-120"/>
              </a:rPr>
              <a:t>01</a:t>
            </a:r>
            <a:endParaRPr lang="en-US" sz="11000" dirty="0"/>
          </a:p>
        </p:txBody>
      </p:sp>
      <p:sp>
        <p:nvSpPr>
          <p:cNvPr id="4" name="Text 2"/>
          <p:cNvSpPr/>
          <p:nvPr/>
        </p:nvSpPr>
        <p:spPr>
          <a:xfrm>
            <a:off x="822960" y="2331720"/>
            <a:ext cx="9692640" cy="1828800"/>
          </a:xfrm>
          <a:prstGeom prst="rect">
            <a:avLst/>
          </a:prstGeom>
          <a:noFill/>
          <a:ln/>
        </p:spPr>
        <p:txBody>
          <a:bodyPr wrap="square" lIns="0" tIns="0" rIns="0" bIns="0" rtlCol="0" anchor="ctr"/>
          <a:lstStyle/>
          <a:p>
            <a:pPr indent="0" marL="0">
              <a:lnSpc>
                <a:spcPts val="4400"/>
              </a:lnSpc>
              <a:buNone/>
            </a:pPr>
            <a:r>
              <a:rPr lang="en-US" sz="3800" b="1" dirty="0">
                <a:solidFill>
                  <a:srgbClr val="E8E4DB"/>
                </a:solidFill>
                <a:latin typeface="Georgia" pitchFamily="34" charset="0"/>
                <a:ea typeface="Georgia" pitchFamily="34" charset="-122"/>
                <a:cs typeface="Georgia" pitchFamily="34" charset="-120"/>
              </a:rPr>
              <a:t>Is Prostate Cancer One Disease, or Many?</a:t>
            </a:r>
            <a:endParaRPr lang="en-US" sz="3800" dirty="0"/>
          </a:p>
        </p:txBody>
      </p:sp>
      <p:sp>
        <p:nvSpPr>
          <p:cNvPr id="5" name="Text 3"/>
          <p:cNvSpPr/>
          <p:nvPr/>
        </p:nvSpPr>
        <p:spPr>
          <a:xfrm>
            <a:off x="822960" y="4160520"/>
            <a:ext cx="8686800" cy="731520"/>
          </a:xfrm>
          <a:prstGeom prst="rect">
            <a:avLst/>
          </a:prstGeom>
          <a:noFill/>
          <a:ln/>
        </p:spPr>
        <p:txBody>
          <a:bodyPr wrap="square" lIns="0" tIns="0" rIns="0" bIns="0" rtlCol="0" anchor="ctr"/>
          <a:lstStyle/>
          <a:p>
            <a:pPr indent="0" marL="0">
              <a:lnSpc>
                <a:spcPts val="2000"/>
              </a:lnSpc>
              <a:buNone/>
            </a:pPr>
            <a:r>
              <a:rPr lang="en-US" sz="1500" i="1" dirty="0">
                <a:solidFill>
                  <a:srgbClr val="9B968C"/>
                </a:solidFill>
                <a:latin typeface="Calibri" pitchFamily="34" charset="0"/>
                <a:ea typeface="Calibri" pitchFamily="34" charset="-122"/>
                <a:cs typeface="Calibri" pitchFamily="34" charset="-120"/>
              </a:rPr>
              <a:t>For most of the twentieth century, grade and stage were the only categories we had.</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DISCOVERY SCIENCE AT MICHIGAN</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Two lncRNAs That Redrew the Map</a:t>
            </a:r>
            <a:endParaRPr lang="en-US" sz="3000" dirty="0"/>
          </a:p>
        </p:txBody>
      </p:sp>
      <p:sp>
        <p:nvSpPr>
          <p:cNvPr id="4" name="Shape 2"/>
          <p:cNvSpPr/>
          <p:nvPr/>
        </p:nvSpPr>
        <p:spPr>
          <a:xfrm>
            <a:off x="548640" y="1874520"/>
            <a:ext cx="5120640" cy="3566160"/>
          </a:xfrm>
          <a:prstGeom prst="rect">
            <a:avLst/>
          </a:prstGeom>
          <a:solidFill>
            <a:srgbClr val="FFFFFF"/>
          </a:solidFill>
          <a:ln w="12700">
            <a:solidFill>
              <a:srgbClr val="E2DDD2"/>
            </a:solidFill>
            <a:prstDash val="solid"/>
          </a:ln>
        </p:spPr>
      </p:sp>
      <p:sp>
        <p:nvSpPr>
          <p:cNvPr id="5" name="Text 3"/>
          <p:cNvSpPr/>
          <p:nvPr/>
        </p:nvSpPr>
        <p:spPr>
          <a:xfrm>
            <a:off x="868680" y="2103120"/>
            <a:ext cx="4480560" cy="502920"/>
          </a:xfrm>
          <a:prstGeom prst="rect">
            <a:avLst/>
          </a:prstGeom>
          <a:noFill/>
          <a:ln/>
        </p:spPr>
        <p:txBody>
          <a:bodyPr wrap="square" lIns="0" tIns="0" rIns="0" bIns="0" rtlCol="0" anchor="ctr"/>
          <a:lstStyle/>
          <a:p>
            <a:pPr indent="0" marL="0">
              <a:buNone/>
            </a:pPr>
            <a:r>
              <a:rPr lang="en-US" sz="2600" b="1" dirty="0">
                <a:solidFill>
                  <a:srgbClr val="0F6E67"/>
                </a:solidFill>
                <a:latin typeface="Georgia" pitchFamily="34" charset="0"/>
                <a:ea typeface="Georgia" pitchFamily="34" charset="-122"/>
                <a:cs typeface="Georgia" pitchFamily="34" charset="-120"/>
              </a:rPr>
              <a:t>PCAT-1</a:t>
            </a:r>
            <a:endParaRPr lang="en-US" sz="2600" dirty="0"/>
          </a:p>
        </p:txBody>
      </p:sp>
      <p:sp>
        <p:nvSpPr>
          <p:cNvPr id="6" name="Text 4"/>
          <p:cNvSpPr/>
          <p:nvPr/>
        </p:nvSpPr>
        <p:spPr>
          <a:xfrm>
            <a:off x="868680" y="2606040"/>
            <a:ext cx="4480560" cy="32004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2011 · Nature Biotechnology</a:t>
            </a:r>
            <a:endParaRPr lang="en-US" sz="1200" dirty="0"/>
          </a:p>
        </p:txBody>
      </p:sp>
      <p:sp>
        <p:nvSpPr>
          <p:cNvPr id="7" name="Text 5"/>
          <p:cNvSpPr/>
          <p:nvPr/>
        </p:nvSpPr>
        <p:spPr>
          <a:xfrm>
            <a:off x="868680" y="3017520"/>
            <a:ext cx="4480560" cy="2286000"/>
          </a:xfrm>
          <a:prstGeom prst="rect">
            <a:avLst/>
          </a:prstGeom>
          <a:noFill/>
          <a:ln/>
        </p:spPr>
        <p:txBody>
          <a:bodyPr wrap="square" lIns="0" tIns="0" rIns="0" bIns="0" rtlCol="0" anchor="ctr"/>
          <a:lstStyle/>
          <a:p>
            <a:pPr indent="0" marL="0">
              <a:lnSpc>
                <a:spcPts val="2000"/>
              </a:lnSpc>
              <a:buNone/>
            </a:pPr>
            <a:r>
              <a:rPr lang="en-US" sz="1400" dirty="0">
                <a:solidFill>
                  <a:srgbClr val="201D18"/>
                </a:solidFill>
                <a:latin typeface="Calibri" pitchFamily="34" charset="0"/>
                <a:ea typeface="Calibri" pitchFamily="34" charset="-122"/>
                <a:cs typeface="Calibri" pitchFamily="34" charset="-120"/>
              </a:rPr>
              <a:t>An unannotated, prostate-restricted long non-coding RNA found by sequencing the transcriptome across 100+ tumors. Later shown to repress BRCA2 and drive MYC expression through their 3'-untranslated regions.</a:t>
            </a:r>
            <a:endParaRPr lang="en-US" sz="1400" dirty="0"/>
          </a:p>
        </p:txBody>
      </p:sp>
      <p:sp>
        <p:nvSpPr>
          <p:cNvPr id="8" name="Shape 6"/>
          <p:cNvSpPr/>
          <p:nvPr/>
        </p:nvSpPr>
        <p:spPr>
          <a:xfrm>
            <a:off x="6035040" y="1874520"/>
            <a:ext cx="5120640" cy="3566160"/>
          </a:xfrm>
          <a:prstGeom prst="rect">
            <a:avLst/>
          </a:prstGeom>
          <a:solidFill>
            <a:srgbClr val="FFFFFF"/>
          </a:solidFill>
          <a:ln w="12700">
            <a:solidFill>
              <a:srgbClr val="E2DDD2"/>
            </a:solidFill>
            <a:prstDash val="solid"/>
          </a:ln>
        </p:spPr>
      </p:sp>
      <p:sp>
        <p:nvSpPr>
          <p:cNvPr id="9" name="Text 7"/>
          <p:cNvSpPr/>
          <p:nvPr/>
        </p:nvSpPr>
        <p:spPr>
          <a:xfrm>
            <a:off x="6355080" y="2103120"/>
            <a:ext cx="4480560" cy="502920"/>
          </a:xfrm>
          <a:prstGeom prst="rect">
            <a:avLst/>
          </a:prstGeom>
          <a:noFill/>
          <a:ln/>
        </p:spPr>
        <p:txBody>
          <a:bodyPr wrap="square" lIns="0" tIns="0" rIns="0" bIns="0" rtlCol="0" anchor="ctr"/>
          <a:lstStyle/>
          <a:p>
            <a:pPr indent="0" marL="0">
              <a:buNone/>
            </a:pPr>
            <a:r>
              <a:rPr lang="en-US" sz="2600" b="1" dirty="0">
                <a:solidFill>
                  <a:srgbClr val="0F6E67"/>
                </a:solidFill>
                <a:latin typeface="Georgia" pitchFamily="34" charset="0"/>
                <a:ea typeface="Georgia" pitchFamily="34" charset="-122"/>
                <a:cs typeface="Georgia" pitchFamily="34" charset="-120"/>
              </a:rPr>
              <a:t>SChLAP1</a:t>
            </a:r>
            <a:endParaRPr lang="en-US" sz="2600" dirty="0"/>
          </a:p>
        </p:txBody>
      </p:sp>
      <p:sp>
        <p:nvSpPr>
          <p:cNvPr id="10" name="Text 8"/>
          <p:cNvSpPr/>
          <p:nvPr/>
        </p:nvSpPr>
        <p:spPr>
          <a:xfrm>
            <a:off x="6355080" y="2606040"/>
            <a:ext cx="4480560" cy="32004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2013 · Nature Genetics</a:t>
            </a:r>
            <a:endParaRPr lang="en-US" sz="1200" dirty="0"/>
          </a:p>
        </p:txBody>
      </p:sp>
      <p:sp>
        <p:nvSpPr>
          <p:cNvPr id="11" name="Text 9"/>
          <p:cNvSpPr/>
          <p:nvPr/>
        </p:nvSpPr>
        <p:spPr>
          <a:xfrm>
            <a:off x="6355080" y="3017520"/>
            <a:ext cx="4480560" cy="2286000"/>
          </a:xfrm>
          <a:prstGeom prst="rect">
            <a:avLst/>
          </a:prstGeom>
          <a:noFill/>
          <a:ln/>
        </p:spPr>
        <p:txBody>
          <a:bodyPr wrap="square" lIns="0" tIns="0" rIns="0" bIns="0" rtlCol="0" anchor="ctr"/>
          <a:lstStyle/>
          <a:p>
            <a:pPr indent="0" marL="0">
              <a:lnSpc>
                <a:spcPts val="2000"/>
              </a:lnSpc>
              <a:buNone/>
            </a:pPr>
            <a:r>
              <a:rPr lang="en-US" sz="1400" dirty="0">
                <a:solidFill>
                  <a:srgbClr val="201D18"/>
                </a:solidFill>
                <a:latin typeface="Calibri" pitchFamily="34" charset="0"/>
                <a:ea typeface="Calibri" pitchFamily="34" charset="-122"/>
                <a:cs typeface="Calibri" pitchFamily="34" charset="-120"/>
              </a:rPr>
              <a:t>Outlier-overexpressed in roughly 25% of prostate cancers. Drives invasion and metastasis by directly antagonizing the tumor-suppressive SWI/SNF chromatin-remodeling complex.</a:t>
            </a:r>
            <a:endParaRPr lang="en-US" sz="1400" dirty="0"/>
          </a:p>
        </p:txBody>
      </p:sp>
      <p:sp>
        <p:nvSpPr>
          <p:cNvPr id="12" name="Text 10"/>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Prensner et al., Nat Biotechnol 2011</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Prensner et al., Nat Genet 2013</a:t>
            </a:r>
            <a:endParaRPr lang="en-US" sz="1000" dirty="0"/>
          </a:p>
        </p:txBody>
      </p:sp>
      <p:sp>
        <p:nvSpPr>
          <p:cNvPr id="13"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FROM DISCOVERY TO BIOMARKER</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SChLAP1 Predicts Who Progresses</a:t>
            </a:r>
            <a:endParaRPr lang="en-US" sz="3000" dirty="0"/>
          </a:p>
        </p:txBody>
      </p:sp>
      <p:sp>
        <p:nvSpPr>
          <p:cNvPr id="4" name="Shape 2"/>
          <p:cNvSpPr/>
          <p:nvPr/>
        </p:nvSpPr>
        <p:spPr>
          <a:xfrm>
            <a:off x="548640" y="2103120"/>
            <a:ext cx="3291840" cy="1920240"/>
          </a:xfrm>
          <a:prstGeom prst="rect">
            <a:avLst/>
          </a:prstGeom>
          <a:solidFill>
            <a:srgbClr val="FFFFFF"/>
          </a:solidFill>
          <a:ln w="12700">
            <a:solidFill>
              <a:srgbClr val="E2DDD2"/>
            </a:solidFill>
            <a:prstDash val="solid"/>
          </a:ln>
        </p:spPr>
      </p:sp>
      <p:sp>
        <p:nvSpPr>
          <p:cNvPr id="5" name="Text 3"/>
          <p:cNvSpPr/>
          <p:nvPr/>
        </p:nvSpPr>
        <p:spPr>
          <a:xfrm>
            <a:off x="777240" y="2212848"/>
            <a:ext cx="2834640" cy="960120"/>
          </a:xfrm>
          <a:prstGeom prst="rect">
            <a:avLst/>
          </a:prstGeom>
          <a:noFill/>
          <a:ln/>
        </p:spPr>
        <p:txBody>
          <a:bodyPr wrap="square" lIns="0" tIns="0" rIns="0" bIns="0" rtlCol="0" anchor="b"/>
          <a:lstStyle/>
          <a:p>
            <a:pPr algn="l" indent="0" marL="0">
              <a:buNone/>
            </a:pPr>
            <a:r>
              <a:rPr lang="en-US" sz="4400" b="1" dirty="0">
                <a:solidFill>
                  <a:srgbClr val="A3690C"/>
                </a:solidFill>
                <a:latin typeface="Georgia" pitchFamily="34" charset="0"/>
                <a:ea typeface="Georgia" pitchFamily="34" charset="-122"/>
                <a:cs typeface="Georgia" pitchFamily="34" charset="-120"/>
              </a:rPr>
              <a:t>1,008</a:t>
            </a:r>
            <a:endParaRPr lang="en-US" sz="4400" dirty="0"/>
          </a:p>
        </p:txBody>
      </p:sp>
      <p:sp>
        <p:nvSpPr>
          <p:cNvPr id="6" name="Text 4"/>
          <p:cNvSpPr/>
          <p:nvPr/>
        </p:nvSpPr>
        <p:spPr>
          <a:xfrm>
            <a:off x="777240" y="3332074"/>
            <a:ext cx="2834640" cy="614477"/>
          </a:xfrm>
          <a:prstGeom prst="rect">
            <a:avLst/>
          </a:prstGeom>
          <a:noFill/>
          <a:ln/>
        </p:spPr>
        <p:txBody>
          <a:bodyPr wrap="square" lIns="0" tIns="0" rIns="0" bIns="0" rtlCol="0" anchor="t"/>
          <a:lstStyle/>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men in the validation study</a:t>
            </a:r>
            <a:endParaRPr lang="en-US" sz="1150" dirty="0"/>
          </a:p>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(545 discovery, 463 validation)</a:t>
            </a:r>
            <a:endParaRPr lang="en-US" sz="1150" dirty="0"/>
          </a:p>
        </p:txBody>
      </p:sp>
      <p:sp>
        <p:nvSpPr>
          <p:cNvPr id="7" name="Shape 5"/>
          <p:cNvSpPr/>
          <p:nvPr/>
        </p:nvSpPr>
        <p:spPr>
          <a:xfrm>
            <a:off x="4023360" y="2103120"/>
            <a:ext cx="3291840" cy="1920240"/>
          </a:xfrm>
          <a:prstGeom prst="rect">
            <a:avLst/>
          </a:prstGeom>
          <a:solidFill>
            <a:srgbClr val="FFFFFF"/>
          </a:solidFill>
          <a:ln w="12700">
            <a:solidFill>
              <a:srgbClr val="E2DDD2"/>
            </a:solidFill>
            <a:prstDash val="solid"/>
          </a:ln>
        </p:spPr>
      </p:sp>
      <p:sp>
        <p:nvSpPr>
          <p:cNvPr id="8" name="Text 6"/>
          <p:cNvSpPr/>
          <p:nvPr/>
        </p:nvSpPr>
        <p:spPr>
          <a:xfrm>
            <a:off x="4251960" y="2212848"/>
            <a:ext cx="2834640" cy="960120"/>
          </a:xfrm>
          <a:prstGeom prst="rect">
            <a:avLst/>
          </a:prstGeom>
          <a:noFill/>
          <a:ln/>
        </p:spPr>
        <p:txBody>
          <a:bodyPr wrap="square" lIns="0" tIns="0" rIns="0" bIns="0" rtlCol="0" anchor="b"/>
          <a:lstStyle/>
          <a:p>
            <a:pPr algn="l" indent="0" marL="0">
              <a:buNone/>
            </a:pPr>
            <a:r>
              <a:rPr lang="en-US" sz="4400" b="1" dirty="0">
                <a:solidFill>
                  <a:srgbClr val="A3690C"/>
                </a:solidFill>
                <a:latin typeface="Georgia" pitchFamily="34" charset="0"/>
                <a:ea typeface="Georgia" pitchFamily="34" charset="-122"/>
                <a:cs typeface="Georgia" pitchFamily="34" charset="-120"/>
              </a:rPr>
              <a:t>2.45</a:t>
            </a:r>
            <a:endParaRPr lang="en-US" sz="4400" dirty="0"/>
          </a:p>
        </p:txBody>
      </p:sp>
      <p:sp>
        <p:nvSpPr>
          <p:cNvPr id="9" name="Text 7"/>
          <p:cNvSpPr/>
          <p:nvPr/>
        </p:nvSpPr>
        <p:spPr>
          <a:xfrm>
            <a:off x="4251960" y="3332074"/>
            <a:ext cx="2834640" cy="614477"/>
          </a:xfrm>
          <a:prstGeom prst="rect">
            <a:avLst/>
          </a:prstGeom>
          <a:noFill/>
          <a:ln/>
        </p:spPr>
        <p:txBody>
          <a:bodyPr wrap="square" lIns="0" tIns="0" rIns="0" bIns="0" rtlCol="0" anchor="t"/>
          <a:lstStyle/>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odds ratio for 10-year metastasis</a:t>
            </a:r>
            <a:endParaRPr lang="en-US" sz="1150" dirty="0"/>
          </a:p>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with high SChLAP1 expression</a:t>
            </a:r>
            <a:endParaRPr lang="en-US" sz="1150" dirty="0"/>
          </a:p>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(95% CI 1.70–3.53, p&lt;0.0001)</a:t>
            </a:r>
            <a:endParaRPr lang="en-US" sz="1150" dirty="0"/>
          </a:p>
        </p:txBody>
      </p:sp>
      <p:sp>
        <p:nvSpPr>
          <p:cNvPr id="10" name="Shape 8"/>
          <p:cNvSpPr/>
          <p:nvPr/>
        </p:nvSpPr>
        <p:spPr>
          <a:xfrm>
            <a:off x="7498080" y="2103120"/>
            <a:ext cx="4114800" cy="1920240"/>
          </a:xfrm>
          <a:prstGeom prst="rect">
            <a:avLst/>
          </a:prstGeom>
          <a:solidFill>
            <a:srgbClr val="FFFFFF"/>
          </a:solidFill>
          <a:ln w="12700">
            <a:solidFill>
              <a:srgbClr val="E2DDD2"/>
            </a:solidFill>
            <a:prstDash val="solid"/>
          </a:ln>
        </p:spPr>
      </p:sp>
      <p:sp>
        <p:nvSpPr>
          <p:cNvPr id="11" name="Text 9"/>
          <p:cNvSpPr/>
          <p:nvPr/>
        </p:nvSpPr>
        <p:spPr>
          <a:xfrm>
            <a:off x="7726680" y="2212848"/>
            <a:ext cx="3657600" cy="960120"/>
          </a:xfrm>
          <a:prstGeom prst="rect">
            <a:avLst/>
          </a:prstGeom>
          <a:noFill/>
          <a:ln/>
        </p:spPr>
        <p:txBody>
          <a:bodyPr wrap="square" lIns="0" tIns="0" rIns="0" bIns="0" rtlCol="0" anchor="b"/>
          <a:lstStyle/>
          <a:p>
            <a:pPr algn="l" indent="0" marL="0">
              <a:buNone/>
            </a:pPr>
            <a:r>
              <a:rPr lang="en-US" sz="2400" b="1" dirty="0">
                <a:solidFill>
                  <a:srgbClr val="A3690C"/>
                </a:solidFill>
                <a:latin typeface="Georgia" pitchFamily="34" charset="0"/>
                <a:ea typeface="Georgia" pitchFamily="34" charset="-122"/>
                <a:cs typeface="Georgia" pitchFamily="34" charset="-120"/>
              </a:rPr>
              <a:t>Independent</a:t>
            </a:r>
            <a:endParaRPr lang="en-US" sz="2400" dirty="0"/>
          </a:p>
        </p:txBody>
      </p:sp>
      <p:sp>
        <p:nvSpPr>
          <p:cNvPr id="12" name="Text 10"/>
          <p:cNvSpPr/>
          <p:nvPr/>
        </p:nvSpPr>
        <p:spPr>
          <a:xfrm>
            <a:off x="7726680" y="3332074"/>
            <a:ext cx="3657600" cy="614477"/>
          </a:xfrm>
          <a:prstGeom prst="rect">
            <a:avLst/>
          </a:prstGeom>
          <a:noFill/>
          <a:ln/>
        </p:spPr>
        <p:txBody>
          <a:bodyPr wrap="square" lIns="0" tIns="0" rIns="0" bIns="0" rtlCol="0" anchor="t"/>
          <a:lstStyle/>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of grade, stage, and margin status —</a:t>
            </a:r>
            <a:endParaRPr lang="en-US" sz="1150" dirty="0"/>
          </a:p>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first RNA biomarker validated across institutions</a:t>
            </a:r>
            <a:endParaRPr lang="en-US" sz="1150" dirty="0"/>
          </a:p>
        </p:txBody>
      </p:sp>
      <p:sp>
        <p:nvSpPr>
          <p:cNvPr id="13" name="Text 11"/>
          <p:cNvSpPr/>
          <p:nvPr/>
        </p:nvSpPr>
        <p:spPr>
          <a:xfrm>
            <a:off x="548640" y="4343400"/>
            <a:ext cx="10515600" cy="914400"/>
          </a:xfrm>
          <a:prstGeom prst="rect">
            <a:avLst/>
          </a:prstGeom>
          <a:noFill/>
          <a:ln/>
        </p:spPr>
        <p:txBody>
          <a:bodyPr wrap="square" lIns="0" tIns="0" rIns="0" bIns="0" rtlCol="0" anchor="ctr"/>
          <a:lstStyle/>
          <a:p>
            <a:pPr indent="0" marL="0">
              <a:lnSpc>
                <a:spcPts val="2100"/>
              </a:lnSpc>
              <a:buNone/>
            </a:pPr>
            <a:r>
              <a:rPr lang="en-US" sz="1500" i="1" dirty="0">
                <a:solidFill>
                  <a:srgbClr val="201D18"/>
                </a:solidFill>
                <a:latin typeface="Calibri" pitchFamily="34" charset="0"/>
                <a:ea typeface="Calibri" pitchFamily="34" charset="-122"/>
                <a:cs typeface="Calibri" pitchFamily="34" charset="-120"/>
              </a:rPr>
              <a:t>A tumor that looks identical under the microscope can carry very different odds of killing the patient. SChLAP1 gave the field a way to read that difference directly from the tissue.</a:t>
            </a:r>
            <a:endParaRPr lang="en-US" sz="1500" dirty="0"/>
          </a:p>
        </p:txBody>
      </p:sp>
      <p:sp>
        <p:nvSpPr>
          <p:cNvPr id="14" name="Text 12"/>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Mehra et al., Lancet Oncol 2014</a:t>
            </a:r>
            <a:endParaRPr lang="en-US" sz="1000" dirty="0"/>
          </a:p>
        </p:txBody>
      </p:sp>
      <p:sp>
        <p:nvSpPr>
          <p:cNvPr id="15" name="Text 1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NOT EVERY HIGH-RISK TUMOR IS HIGH-RISK THE SAME WAY</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Luminal B: Worst Prognosis, Only Subtype That Benefits</a:t>
            </a:r>
            <a:endParaRPr lang="en-US" sz="3000" dirty="0"/>
          </a:p>
        </p:txBody>
      </p:sp>
      <p:sp>
        <p:nvSpPr>
          <p:cNvPr id="4" name="Text 2"/>
          <p:cNvSpPr/>
          <p:nvPr/>
        </p:nvSpPr>
        <p:spPr>
          <a:xfrm>
            <a:off x="548640" y="1965960"/>
            <a:ext cx="6675120" cy="3200400"/>
          </a:xfrm>
          <a:prstGeom prst="rect">
            <a:avLst/>
          </a:prstGeom>
          <a:noFill/>
          <a:ln/>
        </p:spPr>
        <p:txBody>
          <a:bodyPr wrap="square" lIns="0" tIns="0" rIns="0" bIns="0" rtlCol="0" anchor="t"/>
          <a:lstStyle/>
          <a:p>
            <a:pPr marL="177800" indent="-177800">
              <a:lnSpc>
                <a:spcPts val="2200"/>
              </a:lnSpc>
              <a:spcAft>
                <a:spcPts val="1600"/>
              </a:spcAft>
              <a:buSzPct val="100000"/>
              <a:buChar char="▪"/>
            </a:pPr>
            <a:r>
              <a:rPr lang="en-US" sz="1600" dirty="0">
                <a:solidFill>
                  <a:srgbClr val="201D18"/>
                </a:solidFill>
                <a:latin typeface="Calibri" pitchFamily="34" charset="0"/>
                <a:ea typeface="Calibri" pitchFamily="34" charset="-122"/>
                <a:cs typeface="Calibri" pitchFamily="34" charset="-120"/>
              </a:rPr>
              <a:t>3,782 samples analyzed for luminal versus basal molecular subtype</a:t>
            </a:r>
            <a:endParaRPr lang="en-US" sz="1600" dirty="0"/>
          </a:p>
          <a:p>
            <a:pPr marL="177800" indent="-177800">
              <a:lnSpc>
                <a:spcPts val="2200"/>
              </a:lnSpc>
              <a:spcAft>
                <a:spcPts val="1600"/>
              </a:spcAft>
              <a:buSzPct val="100000"/>
              <a:buChar char="▪"/>
            </a:pPr>
            <a:r>
              <a:rPr lang="en-US" sz="1600" dirty="0">
                <a:solidFill>
                  <a:srgbClr val="201D18"/>
                </a:solidFill>
                <a:latin typeface="Calibri" pitchFamily="34" charset="0"/>
                <a:ea typeface="Calibri" pitchFamily="34" charset="-122"/>
                <a:cs typeface="Calibri" pitchFamily="34" charset="-120"/>
              </a:rPr>
              <a:t>Luminal B tumors carried the worst prognosis of any subtype</a:t>
            </a:r>
            <a:endParaRPr lang="en-US" sz="1600" dirty="0"/>
          </a:p>
          <a:p>
            <a:pPr marL="177800" indent="-177800">
              <a:lnSpc>
                <a:spcPts val="2200"/>
              </a:lnSpc>
              <a:spcAft>
                <a:spcPts val="1600"/>
              </a:spcAft>
              <a:buSzPct val="100000"/>
              <a:buChar char="▪"/>
            </a:pPr>
            <a:r>
              <a:rPr lang="en-US" sz="1600" dirty="0">
                <a:solidFill>
                  <a:srgbClr val="201D18"/>
                </a:solidFill>
                <a:latin typeface="Calibri" pitchFamily="34" charset="0"/>
                <a:ea typeface="Calibri" pitchFamily="34" charset="-122"/>
                <a:cs typeface="Calibri" pitchFamily="34" charset="-120"/>
              </a:rPr>
              <a:t>Luminal B was also the only subtype that benefited from postoperative androgen deprivation therapy</a:t>
            </a:r>
            <a:endParaRPr lang="en-US" sz="1600" dirty="0"/>
          </a:p>
          <a:p>
            <a:pPr marL="177800" indent="-177800">
              <a:lnSpc>
                <a:spcPts val="2200"/>
              </a:lnSpc>
              <a:spcAft>
                <a:spcPts val="1600"/>
              </a:spcAft>
              <a:buSzPct val="100000"/>
              <a:buChar char="▪"/>
            </a:pPr>
            <a:r>
              <a:rPr lang="en-US" sz="1600" dirty="0">
                <a:solidFill>
                  <a:srgbClr val="201D18"/>
                </a:solidFill>
                <a:latin typeface="Calibri" pitchFamily="34" charset="0"/>
                <a:ea typeface="Calibri" pitchFamily="34" charset="-122"/>
                <a:cs typeface="Calibri" pitchFamily="34" charset="-120"/>
              </a:rPr>
              <a:t>10-year metastasis: 33% with ADT versus 55% without, in luminal B (p for interaction = .006)</a:t>
            </a:r>
            <a:endParaRPr lang="en-US" sz="1600" dirty="0"/>
          </a:p>
        </p:txBody>
      </p:sp>
      <p:sp>
        <p:nvSpPr>
          <p:cNvPr id="5" name="Shape 3"/>
          <p:cNvSpPr/>
          <p:nvPr/>
        </p:nvSpPr>
        <p:spPr>
          <a:xfrm>
            <a:off x="7589520" y="1965960"/>
            <a:ext cx="4023360" cy="3566160"/>
          </a:xfrm>
          <a:prstGeom prst="rect">
            <a:avLst/>
          </a:prstGeom>
          <a:solidFill>
            <a:srgbClr val="ECDCBD"/>
          </a:solidFill>
          <a:ln w="12700">
            <a:solidFill>
              <a:srgbClr val="E2DDD2"/>
            </a:solidFill>
            <a:prstDash val="solid"/>
          </a:ln>
        </p:spPr>
      </p:sp>
      <p:sp>
        <p:nvSpPr>
          <p:cNvPr id="6" name="Text 4"/>
          <p:cNvSpPr/>
          <p:nvPr/>
        </p:nvSpPr>
        <p:spPr>
          <a:xfrm>
            <a:off x="7909560" y="2286000"/>
            <a:ext cx="3383280" cy="2103120"/>
          </a:xfrm>
          <a:prstGeom prst="rect">
            <a:avLst/>
          </a:prstGeom>
          <a:noFill/>
          <a:ln/>
        </p:spPr>
        <p:txBody>
          <a:bodyPr wrap="square" lIns="0" tIns="0" rIns="0" bIns="0" rtlCol="0" anchor="ctr"/>
          <a:lstStyle/>
          <a:p>
            <a:pPr indent="0" marL="0">
              <a:lnSpc>
                <a:spcPts val="2300"/>
              </a:lnSpc>
              <a:buNone/>
            </a:pPr>
            <a:r>
              <a:rPr lang="en-US" sz="1700" b="1" i="1" dirty="0">
                <a:solidFill>
                  <a:srgbClr val="201D18"/>
                </a:solidFill>
                <a:latin typeface="Georgia" pitchFamily="34" charset="0"/>
                <a:ea typeface="Georgia" pitchFamily="34" charset="-122"/>
                <a:cs typeface="Georgia" pitchFamily="34" charset="-120"/>
              </a:rPr>
              <a:t>“Not all prostate cancers are the same, but we have traditionally put prostate cancer into one disease.”</a:t>
            </a:r>
            <a:endParaRPr lang="en-US" sz="1700" dirty="0"/>
          </a:p>
        </p:txBody>
      </p:sp>
      <p:sp>
        <p:nvSpPr>
          <p:cNvPr id="7" name="Text 5"/>
          <p:cNvSpPr/>
          <p:nvPr/>
        </p:nvSpPr>
        <p:spPr>
          <a:xfrm>
            <a:off x="7909560" y="4572000"/>
            <a:ext cx="3383280" cy="36576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 Felix Feng, MD</a:t>
            </a:r>
            <a:endParaRPr lang="en-US" sz="1200" dirty="0"/>
          </a:p>
        </p:txBody>
      </p:sp>
      <p:sp>
        <p:nvSpPr>
          <p:cNvPr id="8" name="Text 6"/>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Zhao et al., JAMA Oncol 2017</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Grand Rounds in Urology</a:t>
            </a:r>
            <a:endParaRPr lang="en-US" sz="1000" dirty="0"/>
          </a:p>
        </p:txBody>
      </p:sp>
      <p:sp>
        <p:nvSpPr>
          <p:cNvPr id="9"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6E67"/>
        </a:solidFill>
      </p:bgPr>
    </p:bg>
    <p:spTree>
      <p:nvGrpSpPr>
        <p:cNvPr id="1" name=""/>
        <p:cNvGrpSpPr/>
        <p:nvPr/>
      </p:nvGrpSpPr>
      <p:grpSpPr>
        <a:xfrm>
          <a:off x="0" y="0"/>
          <a:ext cx="0" cy="0"/>
          <a:chOff x="0" y="0"/>
          <a:chExt cx="0" cy="0"/>
        </a:xfrm>
      </p:grpSpPr>
      <p:sp>
        <p:nvSpPr>
          <p:cNvPr id="2" name="Text 0"/>
          <p:cNvSpPr/>
          <p:nvPr/>
        </p:nvSpPr>
        <p:spPr>
          <a:xfrm>
            <a:off x="822960" y="1005840"/>
            <a:ext cx="7315200" cy="365760"/>
          </a:xfrm>
          <a:prstGeom prst="rect">
            <a:avLst/>
          </a:prstGeom>
          <a:noFill/>
          <a:ln/>
        </p:spPr>
        <p:txBody>
          <a:bodyPr wrap="square" lIns="0" tIns="0" rIns="0" bIns="0" rtlCol="0" anchor="ctr"/>
          <a:lstStyle/>
          <a:p>
            <a:pPr indent="0" marL="0">
              <a:buNone/>
            </a:pPr>
            <a:r>
              <a:rPr lang="en-US" sz="1300" b="1" spc="200" kern="0" dirty="0">
                <a:solidFill>
                  <a:srgbClr val="DDEFEC"/>
                </a:solidFill>
                <a:latin typeface="Calibri" pitchFamily="34" charset="0"/>
                <a:ea typeface="Calibri" pitchFamily="34" charset="-122"/>
                <a:cs typeface="Calibri" pitchFamily="34" charset="-120"/>
              </a:rPr>
              <a:t>MY SYNTHESIS</a:t>
            </a:r>
            <a:endParaRPr lang="en-US" sz="1300" dirty="0"/>
          </a:p>
        </p:txBody>
      </p:sp>
      <p:sp>
        <p:nvSpPr>
          <p:cNvPr id="3" name="Text 1"/>
          <p:cNvSpPr/>
          <p:nvPr/>
        </p:nvSpPr>
        <p:spPr>
          <a:xfrm>
            <a:off x="822960" y="1600200"/>
            <a:ext cx="10543032" cy="3108960"/>
          </a:xfrm>
          <a:prstGeom prst="rect">
            <a:avLst/>
          </a:prstGeom>
          <a:noFill/>
          <a:ln/>
        </p:spPr>
        <p:txBody>
          <a:bodyPr wrap="square" lIns="0" tIns="0" rIns="0" bIns="0" rtlCol="0" anchor="ctr"/>
          <a:lstStyle/>
          <a:p>
            <a:pPr indent="0" marL="0">
              <a:lnSpc>
                <a:spcPts val="4000"/>
              </a:lnSpc>
              <a:buNone/>
            </a:pPr>
            <a:r>
              <a:rPr lang="en-US" sz="3000" b="1" i="1" dirty="0">
                <a:solidFill>
                  <a:srgbClr val="FFFFFF"/>
                </a:solidFill>
                <a:latin typeface="Georgia" pitchFamily="34" charset="0"/>
                <a:ea typeface="Georgia" pitchFamily="34" charset="-122"/>
                <a:cs typeface="Georgia" pitchFamily="34" charset="-120"/>
              </a:rPr>
              <a:t>“The unit of prostate cancer research is not the organ. It is the lineage.”</a:t>
            </a:r>
            <a:endParaRPr lang="en-US" sz="3000" dirty="0"/>
          </a:p>
        </p:txBody>
      </p:sp>
      <p:sp>
        <p:nvSpPr>
          <p:cNvPr id="4" name="Text 2"/>
          <p:cNvSpPr/>
          <p:nvPr/>
        </p:nvSpPr>
        <p:spPr>
          <a:xfrm>
            <a:off x="822960" y="4937760"/>
            <a:ext cx="10177272" cy="1005840"/>
          </a:xfrm>
          <a:prstGeom prst="rect">
            <a:avLst/>
          </a:prstGeom>
          <a:noFill/>
          <a:ln/>
        </p:spPr>
        <p:txBody>
          <a:bodyPr wrap="square" lIns="0" tIns="0" rIns="0" bIns="0" rtlCol="0" anchor="ctr"/>
          <a:lstStyle/>
          <a:p>
            <a:pPr indent="0" marL="0">
              <a:lnSpc>
                <a:spcPts val="1900"/>
              </a:lnSpc>
              <a:buNone/>
            </a:pPr>
            <a:r>
              <a:rPr lang="en-US" sz="1400" dirty="0">
                <a:solidFill>
                  <a:srgbClr val="D7ECE9"/>
                </a:solidFill>
                <a:latin typeface="Calibri" pitchFamily="34" charset="0"/>
                <a:ea typeface="Calibri" pitchFamily="34" charset="-122"/>
                <a:cs typeface="Calibri" pitchFamily="34" charset="-120"/>
              </a:rPr>
              <a:t>A luminal B tumor is not a fixed category, any more than a wolf population and a coyote population are fixed categories. They are population states, snapshots of a lineage under selection, and the same tumor can drift from one state toward another as treatment changes the fitness landscape it lives 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920240"/>
            <a:ext cx="7315200" cy="365760"/>
          </a:xfrm>
          <a:prstGeom prst="rect">
            <a:avLst/>
          </a:prstGeom>
          <a:noFill/>
          <a:ln/>
        </p:spPr>
        <p:txBody>
          <a:bodyPr wrap="square" lIns="0" tIns="0" rIns="0" bIns="0" rtlCol="0" anchor="ctr"/>
          <a:lstStyle/>
          <a:p>
            <a:pPr indent="0" marL="0">
              <a:buNone/>
            </a:pPr>
            <a:r>
              <a:rPr lang="en-US" sz="1400" b="1" spc="200" kern="0" dirty="0">
                <a:solidFill>
                  <a:srgbClr val="A3690C"/>
                </a:solidFill>
                <a:latin typeface="Calibri" pitchFamily="34" charset="0"/>
                <a:ea typeface="Calibri" pitchFamily="34" charset="-122"/>
                <a:cs typeface="Calibri" pitchFamily="34" charset="-120"/>
              </a:rPr>
              <a:t>QUESTION 2</a:t>
            </a:r>
            <a:endParaRPr lang="en-US" sz="1400" dirty="0"/>
          </a:p>
        </p:txBody>
      </p:sp>
      <p:sp>
        <p:nvSpPr>
          <p:cNvPr id="3" name="Text 1"/>
          <p:cNvSpPr/>
          <p:nvPr/>
        </p:nvSpPr>
        <p:spPr>
          <a:xfrm>
            <a:off x="9052560" y="914400"/>
            <a:ext cx="2560320" cy="2011680"/>
          </a:xfrm>
          <a:prstGeom prst="rect">
            <a:avLst/>
          </a:prstGeom>
          <a:noFill/>
          <a:ln/>
        </p:spPr>
        <p:txBody>
          <a:bodyPr wrap="square" lIns="0" tIns="0" rIns="0" bIns="0" rtlCol="0" anchor="ctr"/>
          <a:lstStyle/>
          <a:p>
            <a:pPr algn="r" indent="0" marL="0">
              <a:buNone/>
            </a:pPr>
            <a:r>
              <a:rPr lang="en-US" sz="11000" b="1" dirty="0">
                <a:solidFill>
                  <a:srgbClr val="23282E"/>
                </a:solidFill>
                <a:latin typeface="Georgia" pitchFamily="34" charset="0"/>
                <a:ea typeface="Georgia" pitchFamily="34" charset="-122"/>
                <a:cs typeface="Georgia" pitchFamily="34" charset="-120"/>
              </a:rPr>
              <a:t>02</a:t>
            </a:r>
            <a:endParaRPr lang="en-US" sz="11000" dirty="0"/>
          </a:p>
        </p:txBody>
      </p:sp>
      <p:sp>
        <p:nvSpPr>
          <p:cNvPr id="4" name="Text 2"/>
          <p:cNvSpPr/>
          <p:nvPr/>
        </p:nvSpPr>
        <p:spPr>
          <a:xfrm>
            <a:off x="822960" y="2331720"/>
            <a:ext cx="9692640" cy="1828800"/>
          </a:xfrm>
          <a:prstGeom prst="rect">
            <a:avLst/>
          </a:prstGeom>
          <a:noFill/>
          <a:ln/>
        </p:spPr>
        <p:txBody>
          <a:bodyPr wrap="square" lIns="0" tIns="0" rIns="0" bIns="0" rtlCol="0" anchor="ctr"/>
          <a:lstStyle/>
          <a:p>
            <a:pPr indent="0" marL="0">
              <a:lnSpc>
                <a:spcPts val="4400"/>
              </a:lnSpc>
              <a:buNone/>
            </a:pPr>
            <a:r>
              <a:rPr lang="en-US" sz="3800" b="1" dirty="0">
                <a:solidFill>
                  <a:srgbClr val="E8E4DB"/>
                </a:solidFill>
                <a:latin typeface="Georgia" pitchFamily="34" charset="0"/>
                <a:ea typeface="Georgia" pitchFamily="34" charset="-122"/>
                <a:cs typeface="Georgia" pitchFamily="34" charset="-120"/>
              </a:rPr>
              <a:t>What Actually Drives Resistance?</a:t>
            </a:r>
            <a:endParaRPr lang="en-US" sz="3800" dirty="0"/>
          </a:p>
        </p:txBody>
      </p:sp>
      <p:sp>
        <p:nvSpPr>
          <p:cNvPr id="5" name="Text 3"/>
          <p:cNvSpPr/>
          <p:nvPr/>
        </p:nvSpPr>
        <p:spPr>
          <a:xfrm>
            <a:off x="822960" y="4160520"/>
            <a:ext cx="8686800" cy="731520"/>
          </a:xfrm>
          <a:prstGeom prst="rect">
            <a:avLst/>
          </a:prstGeom>
          <a:noFill/>
          <a:ln/>
        </p:spPr>
        <p:txBody>
          <a:bodyPr wrap="square" lIns="0" tIns="0" rIns="0" bIns="0" rtlCol="0" anchor="ctr"/>
          <a:lstStyle/>
          <a:p>
            <a:pPr indent="0" marL="0">
              <a:lnSpc>
                <a:spcPts val="2000"/>
              </a:lnSpc>
              <a:buNone/>
            </a:pPr>
            <a:r>
              <a:rPr lang="en-US" sz="1500" i="1" dirty="0">
                <a:solidFill>
                  <a:srgbClr val="9B968C"/>
                </a:solidFill>
                <a:latin typeface="Calibri" pitchFamily="34" charset="0"/>
                <a:ea typeface="Calibri" pitchFamily="34" charset="-122"/>
                <a:cs typeface="Calibri" pitchFamily="34" charset="-120"/>
              </a:rPr>
              <a:t>Every oncologist has watched a drug that worked stop working.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THE MECHANISTIC RATIONALE, YEARS BEFORE THE CLINIC</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ETS Fusions Recruit PARP1 and DNA-PKcs</a:t>
            </a:r>
            <a:endParaRPr lang="en-US" sz="3000" dirty="0"/>
          </a:p>
        </p:txBody>
      </p:sp>
      <p:sp>
        <p:nvSpPr>
          <p:cNvPr id="4" name="Text 2"/>
          <p:cNvSpPr/>
          <p:nvPr/>
        </p:nvSpPr>
        <p:spPr>
          <a:xfrm>
            <a:off x="548640" y="1965960"/>
            <a:ext cx="10332720" cy="3200400"/>
          </a:xfrm>
          <a:prstGeom prst="rect">
            <a:avLst/>
          </a:prstGeom>
          <a:noFill/>
          <a:ln/>
        </p:spPr>
        <p:txBody>
          <a:bodyPr wrap="square" lIns="0" tIns="0" rIns="0" bIns="0" rtlCol="0" anchor="t"/>
          <a:lstStyle/>
          <a:p>
            <a:pPr marL="177800" indent="-177800">
              <a:lnSpc>
                <a:spcPts val="2300"/>
              </a:lnSpc>
              <a:spcAft>
                <a:spcPts val="1800"/>
              </a:spcAft>
              <a:buSzPct val="100000"/>
              <a:buChar char="▪"/>
            </a:pPr>
            <a:r>
              <a:rPr lang="en-US" sz="1700" dirty="0">
                <a:solidFill>
                  <a:srgbClr val="201D18"/>
                </a:solidFill>
                <a:latin typeface="Calibri" pitchFamily="34" charset="0"/>
                <a:ea typeface="Calibri" pitchFamily="34" charset="-122"/>
                <a:cs typeface="Calibri" pitchFamily="34" charset="-120"/>
              </a:rPr>
              <a:t>The TMPRSS2:ERG fusion protein, present in roughly half of prostate cancers, physically interacts with PARP1 and DNA-PKcs</a:t>
            </a:r>
            <a:endParaRPr lang="en-US" sz="1700" dirty="0"/>
          </a:p>
          <a:p>
            <a:pPr marL="177800" indent="-177800">
              <a:lnSpc>
                <a:spcPts val="2300"/>
              </a:lnSpc>
              <a:spcAft>
                <a:spcPts val="1800"/>
              </a:spcAft>
              <a:buSzPct val="100000"/>
              <a:buChar char="▪"/>
            </a:pPr>
            <a:r>
              <a:rPr lang="en-US" sz="1700" dirty="0">
                <a:solidFill>
                  <a:srgbClr val="201D18"/>
                </a:solidFill>
                <a:latin typeface="Calibri" pitchFamily="34" charset="0"/>
                <a:ea typeface="Calibri" pitchFamily="34" charset="-122"/>
                <a:cs typeface="Calibri" pitchFamily="34" charset="-120"/>
              </a:rPr>
              <a:t>ERG-mediated transcription requires both PARP1 and DNA-PKcs to function</a:t>
            </a:r>
            <a:endParaRPr lang="en-US" sz="1700" dirty="0"/>
          </a:p>
          <a:p>
            <a:pPr marL="177800" indent="-177800">
              <a:lnSpc>
                <a:spcPts val="2300"/>
              </a:lnSpc>
              <a:spcAft>
                <a:spcPts val="1800"/>
              </a:spcAft>
              <a:buSzPct val="100000"/>
              <a:buChar char="▪"/>
            </a:pPr>
            <a:r>
              <a:rPr lang="en-US" sz="1700" dirty="0">
                <a:solidFill>
                  <a:srgbClr val="201D18"/>
                </a:solidFill>
                <a:latin typeface="Calibri" pitchFamily="34" charset="0"/>
                <a:ea typeface="Calibri" pitchFamily="34" charset="-122"/>
                <a:cs typeface="Calibri" pitchFamily="34" charset="-120"/>
              </a:rPr>
              <a:t>PARP1 inhibition blocked growth of ETS-positive prostate cancer xenografts</a:t>
            </a:r>
            <a:endParaRPr lang="en-US" sz="1700" dirty="0"/>
          </a:p>
          <a:p>
            <a:pPr marL="177800" indent="-177800">
              <a:lnSpc>
                <a:spcPts val="2300"/>
              </a:lnSpc>
              <a:spcAft>
                <a:spcPts val="1800"/>
              </a:spcAft>
              <a:buSzPct val="100000"/>
              <a:buChar char="▪"/>
            </a:pPr>
            <a:r>
              <a:rPr lang="en-US" sz="1700" dirty="0">
                <a:solidFill>
                  <a:srgbClr val="201D18"/>
                </a:solidFill>
                <a:latin typeface="Calibri" pitchFamily="34" charset="0"/>
                <a:ea typeface="Calibri" pitchFamily="34" charset="-122"/>
                <a:cs typeface="Calibri" pitchFamily="34" charset="-120"/>
              </a:rPr>
              <a:t>Published in 2011, years before PARP inhibitors entered prostate cancer clinical trials</a:t>
            </a:r>
            <a:endParaRPr lang="en-US" sz="1700" dirty="0"/>
          </a:p>
        </p:txBody>
      </p:sp>
      <p:sp>
        <p:nvSpPr>
          <p:cNvPr id="5" name="Text 3"/>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Brenner et al., Cancer Cell 2011</a:t>
            </a:r>
            <a:endParaRPr lang="en-US" sz="1000" dirty="0"/>
          </a:p>
        </p:txBody>
      </p:sp>
      <p:sp>
        <p:nvSpPr>
          <p:cNvPr id="6"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DNA REPAIR MACHINERY IS NOT A BYSTANDER</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A Circuit That Sustains Its Own Growth</a:t>
            </a:r>
            <a:endParaRPr lang="en-US" sz="3000" dirty="0"/>
          </a:p>
        </p:txBody>
      </p:sp>
      <p:sp>
        <p:nvSpPr>
          <p:cNvPr id="4" name="Shape 2"/>
          <p:cNvSpPr/>
          <p:nvPr/>
        </p:nvSpPr>
        <p:spPr>
          <a:xfrm>
            <a:off x="548640" y="1874520"/>
            <a:ext cx="5120640" cy="3383280"/>
          </a:xfrm>
          <a:prstGeom prst="rect">
            <a:avLst/>
          </a:prstGeom>
          <a:solidFill>
            <a:srgbClr val="FFFFFF"/>
          </a:solidFill>
          <a:ln w="12700">
            <a:solidFill>
              <a:srgbClr val="E2DDD2"/>
            </a:solidFill>
            <a:prstDash val="solid"/>
          </a:ln>
        </p:spPr>
      </p:sp>
      <p:sp>
        <p:nvSpPr>
          <p:cNvPr id="5" name="Text 3"/>
          <p:cNvSpPr/>
          <p:nvPr/>
        </p:nvSpPr>
        <p:spPr>
          <a:xfrm>
            <a:off x="868680" y="2103120"/>
            <a:ext cx="4480560" cy="685800"/>
          </a:xfrm>
          <a:prstGeom prst="rect">
            <a:avLst/>
          </a:prstGeom>
          <a:noFill/>
          <a:ln/>
        </p:spPr>
        <p:txBody>
          <a:bodyPr wrap="square" lIns="0" tIns="0" rIns="0" bIns="0" rtlCol="0" anchor="ctr"/>
          <a:lstStyle/>
          <a:p>
            <a:pPr indent="0" marL="0">
              <a:lnSpc>
                <a:spcPts val="2400"/>
              </a:lnSpc>
              <a:buNone/>
            </a:pPr>
            <a:r>
              <a:rPr lang="en-US" sz="2000" b="1" dirty="0">
                <a:solidFill>
                  <a:srgbClr val="0F6E67"/>
                </a:solidFill>
                <a:latin typeface="Georgia" pitchFamily="34" charset="0"/>
                <a:ea typeface="Georgia" pitchFamily="34" charset="-122"/>
                <a:cs typeface="Georgia" pitchFamily="34" charset="-120"/>
              </a:rPr>
              <a:t>A Hormone–DNA Repair Circuit</a:t>
            </a:r>
            <a:endParaRPr lang="en-US" sz="2000" dirty="0"/>
          </a:p>
        </p:txBody>
      </p:sp>
      <p:sp>
        <p:nvSpPr>
          <p:cNvPr id="6" name="Text 4"/>
          <p:cNvSpPr/>
          <p:nvPr/>
        </p:nvSpPr>
        <p:spPr>
          <a:xfrm>
            <a:off x="868680" y="2788920"/>
            <a:ext cx="4480560" cy="32004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2013 · Cancer Discovery</a:t>
            </a:r>
            <a:endParaRPr lang="en-US" sz="1200" dirty="0"/>
          </a:p>
        </p:txBody>
      </p:sp>
      <p:sp>
        <p:nvSpPr>
          <p:cNvPr id="7" name="Text 5"/>
          <p:cNvSpPr/>
          <p:nvPr/>
        </p:nvSpPr>
        <p:spPr>
          <a:xfrm>
            <a:off x="868680" y="3200400"/>
            <a:ext cx="4480560" cy="1920240"/>
          </a:xfrm>
          <a:prstGeom prst="rect">
            <a:avLst/>
          </a:prstGeom>
          <a:noFill/>
          <a:ln/>
        </p:spPr>
        <p:txBody>
          <a:bodyPr wrap="square" lIns="0" tIns="0" rIns="0" bIns="0" rtlCol="0" anchor="ctr"/>
          <a:lstStyle/>
          <a:p>
            <a:pPr indent="0" marL="0">
              <a:lnSpc>
                <a:spcPts val="2000"/>
              </a:lnSpc>
              <a:buNone/>
            </a:pPr>
            <a:r>
              <a:rPr lang="en-US" sz="1400" dirty="0">
                <a:solidFill>
                  <a:srgbClr val="201D18"/>
                </a:solidFill>
                <a:latin typeface="Calibri" pitchFamily="34" charset="0"/>
                <a:ea typeface="Calibri" pitchFamily="34" charset="-122"/>
                <a:cs typeface="Calibri" pitchFamily="34" charset="-120"/>
              </a:rPr>
              <a:t>Androgen receptor signaling and DNA-PK mediated repair sustain each other in a feedback loop, tying hormone signaling directly to genome maintenance.</a:t>
            </a:r>
            <a:endParaRPr lang="en-US" sz="1400" dirty="0"/>
          </a:p>
        </p:txBody>
      </p:sp>
      <p:sp>
        <p:nvSpPr>
          <p:cNvPr id="8" name="Shape 6"/>
          <p:cNvSpPr/>
          <p:nvPr/>
        </p:nvSpPr>
        <p:spPr>
          <a:xfrm>
            <a:off x="6035040" y="1874520"/>
            <a:ext cx="5120640" cy="3383280"/>
          </a:xfrm>
          <a:prstGeom prst="rect">
            <a:avLst/>
          </a:prstGeom>
          <a:solidFill>
            <a:srgbClr val="FFFFFF"/>
          </a:solidFill>
          <a:ln w="12700">
            <a:solidFill>
              <a:srgbClr val="E2DDD2"/>
            </a:solidFill>
            <a:prstDash val="solid"/>
          </a:ln>
        </p:spPr>
      </p:sp>
      <p:sp>
        <p:nvSpPr>
          <p:cNvPr id="9" name="Text 7"/>
          <p:cNvSpPr/>
          <p:nvPr/>
        </p:nvSpPr>
        <p:spPr>
          <a:xfrm>
            <a:off x="6355080" y="2103120"/>
            <a:ext cx="4480560" cy="685800"/>
          </a:xfrm>
          <a:prstGeom prst="rect">
            <a:avLst/>
          </a:prstGeom>
          <a:noFill/>
          <a:ln/>
        </p:spPr>
        <p:txBody>
          <a:bodyPr wrap="square" lIns="0" tIns="0" rIns="0" bIns="0" rtlCol="0" anchor="ctr"/>
          <a:lstStyle/>
          <a:p>
            <a:pPr indent="0" marL="0">
              <a:lnSpc>
                <a:spcPts val="2400"/>
              </a:lnSpc>
              <a:buNone/>
            </a:pPr>
            <a:r>
              <a:rPr lang="en-US" sz="2000" b="1" dirty="0">
                <a:solidFill>
                  <a:srgbClr val="0F6E67"/>
                </a:solidFill>
                <a:latin typeface="Georgia" pitchFamily="34" charset="0"/>
                <a:ea typeface="Georgia" pitchFamily="34" charset="-122"/>
                <a:cs typeface="Georgia" pitchFamily="34" charset="-120"/>
              </a:rPr>
              <a:t>DNA-PKcs Drives Metastasis</a:t>
            </a:r>
            <a:endParaRPr lang="en-US" sz="2000" dirty="0"/>
          </a:p>
        </p:txBody>
      </p:sp>
      <p:sp>
        <p:nvSpPr>
          <p:cNvPr id="10" name="Text 8"/>
          <p:cNvSpPr/>
          <p:nvPr/>
        </p:nvSpPr>
        <p:spPr>
          <a:xfrm>
            <a:off x="6355080" y="2788920"/>
            <a:ext cx="4480560" cy="32004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2015 · Cancer Cell</a:t>
            </a:r>
            <a:endParaRPr lang="en-US" sz="1200" dirty="0"/>
          </a:p>
        </p:txBody>
      </p:sp>
      <p:sp>
        <p:nvSpPr>
          <p:cNvPr id="11" name="Text 9"/>
          <p:cNvSpPr/>
          <p:nvPr/>
        </p:nvSpPr>
        <p:spPr>
          <a:xfrm>
            <a:off x="6355080" y="3200400"/>
            <a:ext cx="4480560" cy="1920240"/>
          </a:xfrm>
          <a:prstGeom prst="rect">
            <a:avLst/>
          </a:prstGeom>
          <a:noFill/>
          <a:ln/>
        </p:spPr>
        <p:txBody>
          <a:bodyPr wrap="square" lIns="0" tIns="0" rIns="0" bIns="0" rtlCol="0" anchor="ctr"/>
          <a:lstStyle/>
          <a:p>
            <a:pPr indent="0" marL="0">
              <a:lnSpc>
                <a:spcPts val="2000"/>
              </a:lnSpc>
              <a:buNone/>
            </a:pPr>
            <a:r>
              <a:rPr lang="en-US" sz="1400" dirty="0">
                <a:solidFill>
                  <a:srgbClr val="201D18"/>
                </a:solidFill>
                <a:latin typeface="Calibri" pitchFamily="34" charset="0"/>
                <a:ea typeface="Calibri" pitchFamily="34" charset="-122"/>
                <a:cs typeface="Calibri" pitchFamily="34" charset="-120"/>
              </a:rPr>
              <a:t>DNA-PKcs acts as a transcriptional regulator that drives progression and metastasis in its own right, independent of its role in DNA repair.</a:t>
            </a:r>
            <a:endParaRPr lang="en-US" sz="1400" dirty="0"/>
          </a:p>
        </p:txBody>
      </p:sp>
      <p:sp>
        <p:nvSpPr>
          <p:cNvPr id="12" name="Text 10"/>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Goodwin et al., Cancer Discov 2013</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Goodwin et al., Cancer Cell 2015</a:t>
            </a:r>
            <a:endParaRPr lang="en-US" sz="1000" dirty="0"/>
          </a:p>
        </p:txBody>
      </p:sp>
      <p:sp>
        <p:nvSpPr>
          <p:cNvPr id="13"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RESISTANCE RUNS MORE THAN ONE EXPERIMENT AT ONCE</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One Biopsy Found 2 Reversions. Blood Found 7.</a:t>
            </a:r>
            <a:endParaRPr lang="en-US" sz="3000" dirty="0"/>
          </a:p>
        </p:txBody>
      </p:sp>
      <p:sp>
        <p:nvSpPr>
          <p:cNvPr id="4" name="Shape 2"/>
          <p:cNvSpPr/>
          <p:nvPr/>
        </p:nvSpPr>
        <p:spPr>
          <a:xfrm>
            <a:off x="548640" y="2148840"/>
            <a:ext cx="5120640" cy="2194560"/>
          </a:xfrm>
          <a:prstGeom prst="rect">
            <a:avLst/>
          </a:prstGeom>
          <a:solidFill>
            <a:srgbClr val="FFFFFF"/>
          </a:solidFill>
          <a:ln w="12700">
            <a:solidFill>
              <a:srgbClr val="E2DDD2"/>
            </a:solidFill>
            <a:prstDash val="solid"/>
          </a:ln>
        </p:spPr>
      </p:sp>
      <p:sp>
        <p:nvSpPr>
          <p:cNvPr id="5" name="Text 3"/>
          <p:cNvSpPr/>
          <p:nvPr/>
        </p:nvSpPr>
        <p:spPr>
          <a:xfrm>
            <a:off x="777240" y="2258568"/>
            <a:ext cx="4663440" cy="1097280"/>
          </a:xfrm>
          <a:prstGeom prst="rect">
            <a:avLst/>
          </a:prstGeom>
          <a:noFill/>
          <a:ln/>
        </p:spPr>
        <p:txBody>
          <a:bodyPr wrap="square" lIns="0" tIns="0" rIns="0" bIns="0" rtlCol="0" anchor="b"/>
          <a:lstStyle/>
          <a:p>
            <a:pPr algn="ctr" indent="0" marL="0">
              <a:buNone/>
            </a:pPr>
            <a:r>
              <a:rPr lang="en-US" sz="6000" b="1" dirty="0">
                <a:solidFill>
                  <a:srgbClr val="A3690C"/>
                </a:solidFill>
                <a:latin typeface="Georgia" pitchFamily="34" charset="0"/>
                <a:ea typeface="Georgia" pitchFamily="34" charset="-122"/>
                <a:cs typeface="Georgia" pitchFamily="34" charset="-120"/>
              </a:rPr>
              <a:t>2</a:t>
            </a:r>
            <a:endParaRPr lang="en-US" sz="6000" dirty="0"/>
          </a:p>
        </p:txBody>
      </p:sp>
      <p:sp>
        <p:nvSpPr>
          <p:cNvPr id="6" name="Text 4"/>
          <p:cNvSpPr/>
          <p:nvPr/>
        </p:nvSpPr>
        <p:spPr>
          <a:xfrm>
            <a:off x="777240" y="3553358"/>
            <a:ext cx="4663440" cy="702259"/>
          </a:xfrm>
          <a:prstGeom prst="rect">
            <a:avLst/>
          </a:prstGeom>
          <a:noFill/>
          <a:ln/>
        </p:spPr>
        <p:txBody>
          <a:bodyPr wrap="square" lIns="0" tIns="0" rIns="0" bIns="0" rtlCol="0" anchor="t"/>
          <a:lstStyle/>
          <a:p>
            <a:pPr algn="ctr" indent="0" marL="0">
              <a:lnSpc>
                <a:spcPts val="1400"/>
              </a:lnSpc>
              <a:buNone/>
            </a:pPr>
            <a:r>
              <a:rPr lang="en-US" sz="1150" dirty="0">
                <a:solidFill>
                  <a:srgbClr val="6B6860"/>
                </a:solidFill>
                <a:latin typeface="Calibri" pitchFamily="34" charset="0"/>
                <a:ea typeface="Calibri" pitchFamily="34" charset="-122"/>
                <a:cs typeface="Calibri" pitchFamily="34" charset="-120"/>
              </a:rPr>
              <a:t>distinct BRCA2 reversion mutations</a:t>
            </a:r>
            <a:endParaRPr lang="en-US" sz="1150" dirty="0"/>
          </a:p>
          <a:p>
            <a:pPr algn="ctr" indent="0" marL="0">
              <a:lnSpc>
                <a:spcPts val="1400"/>
              </a:lnSpc>
              <a:buNone/>
            </a:pPr>
            <a:r>
              <a:rPr lang="en-US" sz="1150" dirty="0">
                <a:solidFill>
                  <a:srgbClr val="6B6860"/>
                </a:solidFill>
                <a:latin typeface="Calibri" pitchFamily="34" charset="0"/>
                <a:ea typeface="Calibri" pitchFamily="34" charset="-122"/>
                <a:cs typeface="Calibri" pitchFamily="34" charset="-120"/>
              </a:rPr>
              <a:t>detected by a single tissue biopsy</a:t>
            </a:r>
            <a:endParaRPr lang="en-US" sz="1150" dirty="0"/>
          </a:p>
        </p:txBody>
      </p:sp>
      <p:sp>
        <p:nvSpPr>
          <p:cNvPr id="7" name="Shape 5"/>
          <p:cNvSpPr/>
          <p:nvPr/>
        </p:nvSpPr>
        <p:spPr>
          <a:xfrm>
            <a:off x="6035040" y="2148840"/>
            <a:ext cx="5577840" cy="2194560"/>
          </a:xfrm>
          <a:prstGeom prst="rect">
            <a:avLst/>
          </a:prstGeom>
          <a:solidFill>
            <a:srgbClr val="FFFFFF"/>
          </a:solidFill>
          <a:ln w="12700">
            <a:solidFill>
              <a:srgbClr val="E2DDD2"/>
            </a:solidFill>
            <a:prstDash val="solid"/>
          </a:ln>
        </p:spPr>
      </p:sp>
      <p:sp>
        <p:nvSpPr>
          <p:cNvPr id="8" name="Text 6"/>
          <p:cNvSpPr/>
          <p:nvPr/>
        </p:nvSpPr>
        <p:spPr>
          <a:xfrm>
            <a:off x="6263640" y="2258568"/>
            <a:ext cx="5120640" cy="1097280"/>
          </a:xfrm>
          <a:prstGeom prst="rect">
            <a:avLst/>
          </a:prstGeom>
          <a:noFill/>
          <a:ln/>
        </p:spPr>
        <p:txBody>
          <a:bodyPr wrap="square" lIns="0" tIns="0" rIns="0" bIns="0" rtlCol="0" anchor="b"/>
          <a:lstStyle/>
          <a:p>
            <a:pPr algn="ctr" indent="0" marL="0">
              <a:buNone/>
            </a:pPr>
            <a:r>
              <a:rPr lang="en-US" sz="6000" b="1" dirty="0">
                <a:solidFill>
                  <a:srgbClr val="0F6E67"/>
                </a:solidFill>
                <a:latin typeface="Georgia" pitchFamily="34" charset="0"/>
                <a:ea typeface="Georgia" pitchFamily="34" charset="-122"/>
                <a:cs typeface="Georgia" pitchFamily="34" charset="-120"/>
              </a:rPr>
              <a:t>7</a:t>
            </a:r>
            <a:endParaRPr lang="en-US" sz="6000" dirty="0"/>
          </a:p>
        </p:txBody>
      </p:sp>
      <p:sp>
        <p:nvSpPr>
          <p:cNvPr id="9" name="Text 7"/>
          <p:cNvSpPr/>
          <p:nvPr/>
        </p:nvSpPr>
        <p:spPr>
          <a:xfrm>
            <a:off x="6263640" y="3553358"/>
            <a:ext cx="5120640" cy="702259"/>
          </a:xfrm>
          <a:prstGeom prst="rect">
            <a:avLst/>
          </a:prstGeom>
          <a:noFill/>
          <a:ln/>
        </p:spPr>
        <p:txBody>
          <a:bodyPr wrap="square" lIns="0" tIns="0" rIns="0" bIns="0" rtlCol="0" anchor="t"/>
          <a:lstStyle/>
          <a:p>
            <a:pPr algn="ctr" indent="0" marL="0">
              <a:lnSpc>
                <a:spcPts val="1400"/>
              </a:lnSpc>
              <a:buNone/>
            </a:pPr>
            <a:r>
              <a:rPr lang="en-US" sz="1150" dirty="0">
                <a:solidFill>
                  <a:srgbClr val="6B6860"/>
                </a:solidFill>
                <a:latin typeface="Calibri" pitchFamily="34" charset="0"/>
                <a:ea typeface="Calibri" pitchFamily="34" charset="-122"/>
                <a:cs typeface="Calibri" pitchFamily="34" charset="-120"/>
              </a:rPr>
              <a:t>distinct BRCA2 reversion alleles detected</a:t>
            </a:r>
            <a:endParaRPr lang="en-US" sz="1150" dirty="0"/>
          </a:p>
          <a:p>
            <a:pPr algn="ctr" indent="0" marL="0">
              <a:lnSpc>
                <a:spcPts val="1400"/>
              </a:lnSpc>
              <a:buNone/>
            </a:pPr>
            <a:r>
              <a:rPr lang="en-US" sz="1150" dirty="0">
                <a:solidFill>
                  <a:srgbClr val="6B6860"/>
                </a:solidFill>
                <a:latin typeface="Calibri" pitchFamily="34" charset="0"/>
                <a:ea typeface="Calibri" pitchFamily="34" charset="-122"/>
                <a:cs typeface="Calibri" pitchFamily="34" charset="-120"/>
              </a:rPr>
              <a:t>by circulating cell-free DNA in the same patients</a:t>
            </a:r>
            <a:endParaRPr lang="en-US" sz="1150" dirty="0"/>
          </a:p>
        </p:txBody>
      </p:sp>
      <p:sp>
        <p:nvSpPr>
          <p:cNvPr id="10" name="Text 8"/>
          <p:cNvSpPr/>
          <p:nvPr/>
        </p:nvSpPr>
        <p:spPr>
          <a:xfrm>
            <a:off x="548640" y="4617720"/>
            <a:ext cx="10515600" cy="1005840"/>
          </a:xfrm>
          <a:prstGeom prst="rect">
            <a:avLst/>
          </a:prstGeom>
          <a:noFill/>
          <a:ln/>
        </p:spPr>
        <p:txBody>
          <a:bodyPr wrap="square" lIns="0" tIns="0" rIns="0" bIns="0" rtlCol="0" anchor="ctr"/>
          <a:lstStyle/>
          <a:p>
            <a:pPr indent="0" marL="0">
              <a:lnSpc>
                <a:spcPts val="2100"/>
              </a:lnSpc>
              <a:buNone/>
            </a:pPr>
            <a:r>
              <a:rPr lang="en-US" sz="1500" i="1" dirty="0">
                <a:solidFill>
                  <a:srgbClr val="201D18"/>
                </a:solidFill>
                <a:latin typeface="Calibri" pitchFamily="34" charset="0"/>
                <a:ea typeface="Calibri" pitchFamily="34" charset="-122"/>
                <a:cs typeface="Calibri" pitchFamily="34" charset="-120"/>
              </a:rPr>
              <a:t>A tumor does not develop one resistance mechanism. It runs several experiments in parallel and lets the best one win — and a single needle biopsy will always undersample the experiment.</a:t>
            </a:r>
            <a:endParaRPr lang="en-US" sz="1500" dirty="0"/>
          </a:p>
        </p:txBody>
      </p:sp>
      <p:sp>
        <p:nvSpPr>
          <p:cNvPr id="11" name="Text 9"/>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Quigley et al., Cancer Discov 2017</a:t>
            </a:r>
            <a:endParaRPr lang="en-US" sz="1000" dirty="0"/>
          </a:p>
        </p:txBody>
      </p:sp>
      <p:sp>
        <p:nvSpPr>
          <p:cNvPr id="12" name="Text 1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6E67"/>
        </a:solidFill>
      </p:bgPr>
    </p:bg>
    <p:spTree>
      <p:nvGrpSpPr>
        <p:cNvPr id="1" name=""/>
        <p:cNvGrpSpPr/>
        <p:nvPr/>
      </p:nvGrpSpPr>
      <p:grpSpPr>
        <a:xfrm>
          <a:off x="0" y="0"/>
          <a:ext cx="0" cy="0"/>
          <a:chOff x="0" y="0"/>
          <a:chExt cx="0" cy="0"/>
        </a:xfrm>
      </p:grpSpPr>
      <p:sp>
        <p:nvSpPr>
          <p:cNvPr id="2" name="Text 0"/>
          <p:cNvSpPr/>
          <p:nvPr/>
        </p:nvSpPr>
        <p:spPr>
          <a:xfrm>
            <a:off x="822960" y="1005840"/>
            <a:ext cx="7315200" cy="365760"/>
          </a:xfrm>
          <a:prstGeom prst="rect">
            <a:avLst/>
          </a:prstGeom>
          <a:noFill/>
          <a:ln/>
        </p:spPr>
        <p:txBody>
          <a:bodyPr wrap="square" lIns="0" tIns="0" rIns="0" bIns="0" rtlCol="0" anchor="ctr"/>
          <a:lstStyle/>
          <a:p>
            <a:pPr indent="0" marL="0">
              <a:buNone/>
            </a:pPr>
            <a:r>
              <a:rPr lang="en-US" sz="1300" b="1" spc="200" kern="0" dirty="0">
                <a:solidFill>
                  <a:srgbClr val="DDEFEC"/>
                </a:solidFill>
                <a:latin typeface="Calibri" pitchFamily="34" charset="0"/>
                <a:ea typeface="Calibri" pitchFamily="34" charset="-122"/>
                <a:cs typeface="Calibri" pitchFamily="34" charset="-120"/>
              </a:rPr>
              <a:t>MY SYNTHESIS</a:t>
            </a:r>
            <a:endParaRPr lang="en-US" sz="1300" dirty="0"/>
          </a:p>
        </p:txBody>
      </p:sp>
      <p:sp>
        <p:nvSpPr>
          <p:cNvPr id="3" name="Text 1"/>
          <p:cNvSpPr/>
          <p:nvPr/>
        </p:nvSpPr>
        <p:spPr>
          <a:xfrm>
            <a:off x="822960" y="1600200"/>
            <a:ext cx="10543032" cy="3108960"/>
          </a:xfrm>
          <a:prstGeom prst="rect">
            <a:avLst/>
          </a:prstGeom>
          <a:noFill/>
          <a:ln/>
        </p:spPr>
        <p:txBody>
          <a:bodyPr wrap="square" lIns="0" tIns="0" rIns="0" bIns="0" rtlCol="0" anchor="ctr"/>
          <a:lstStyle/>
          <a:p>
            <a:pPr indent="0" marL="0">
              <a:lnSpc>
                <a:spcPts val="4000"/>
              </a:lnSpc>
              <a:buNone/>
            </a:pPr>
            <a:r>
              <a:rPr lang="en-US" sz="3000" b="1" i="1" dirty="0">
                <a:solidFill>
                  <a:srgbClr val="FFFFFF"/>
                </a:solidFill>
                <a:latin typeface="Georgia" pitchFamily="34" charset="0"/>
                <a:ea typeface="Georgia" pitchFamily="34" charset="-122"/>
                <a:cs typeface="Georgia" pitchFamily="34" charset="-120"/>
              </a:rPr>
              <a:t>“Resistance is not a switch that fails. It is a selection event, and we are the ones doing the selecting.”</a:t>
            </a:r>
            <a:endParaRPr lang="en-US" sz="3000" dirty="0"/>
          </a:p>
        </p:txBody>
      </p:sp>
      <p:sp>
        <p:nvSpPr>
          <p:cNvPr id="4" name="Text 2"/>
          <p:cNvSpPr/>
          <p:nvPr/>
        </p:nvSpPr>
        <p:spPr>
          <a:xfrm>
            <a:off x="822960" y="4937760"/>
            <a:ext cx="10177272" cy="1005840"/>
          </a:xfrm>
          <a:prstGeom prst="rect">
            <a:avLst/>
          </a:prstGeom>
          <a:noFill/>
          <a:ln/>
        </p:spPr>
        <p:txBody>
          <a:bodyPr wrap="square" lIns="0" tIns="0" rIns="0" bIns="0" rtlCol="0" anchor="ctr"/>
          <a:lstStyle/>
          <a:p>
            <a:pPr indent="0" marL="0">
              <a:lnSpc>
                <a:spcPts val="1900"/>
              </a:lnSpc>
              <a:buNone/>
            </a:pPr>
            <a:r>
              <a:rPr lang="en-US" sz="1400" dirty="0">
                <a:solidFill>
                  <a:srgbClr val="D7ECE9"/>
                </a:solidFill>
                <a:latin typeface="Calibri" pitchFamily="34" charset="0"/>
                <a:ea typeface="Calibri" pitchFamily="34" charset="-122"/>
                <a:cs typeface="Calibri" pitchFamily="34" charset="-120"/>
              </a:rPr>
              <a:t>Every course of androgen deprivation, every line of a PARP inhibitor, every round of radiation applies a pressure that some fraction of the tumor’s cell population survives. Survival under pressure is exactly what evolution rewards.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920240"/>
            <a:ext cx="7315200" cy="365760"/>
          </a:xfrm>
          <a:prstGeom prst="rect">
            <a:avLst/>
          </a:prstGeom>
          <a:noFill/>
          <a:ln/>
        </p:spPr>
        <p:txBody>
          <a:bodyPr wrap="square" lIns="0" tIns="0" rIns="0" bIns="0" rtlCol="0" anchor="ctr"/>
          <a:lstStyle/>
          <a:p>
            <a:pPr indent="0" marL="0">
              <a:buNone/>
            </a:pPr>
            <a:r>
              <a:rPr lang="en-US" sz="1400" b="1" spc="200" kern="0" dirty="0">
                <a:solidFill>
                  <a:srgbClr val="A3690C"/>
                </a:solidFill>
                <a:latin typeface="Calibri" pitchFamily="34" charset="0"/>
                <a:ea typeface="Calibri" pitchFamily="34" charset="-122"/>
                <a:cs typeface="Calibri" pitchFamily="34" charset="-120"/>
              </a:rPr>
              <a:t>QUESTION 3</a:t>
            </a:r>
            <a:endParaRPr lang="en-US" sz="1400" dirty="0"/>
          </a:p>
        </p:txBody>
      </p:sp>
      <p:sp>
        <p:nvSpPr>
          <p:cNvPr id="3" name="Text 1"/>
          <p:cNvSpPr/>
          <p:nvPr/>
        </p:nvSpPr>
        <p:spPr>
          <a:xfrm>
            <a:off x="9052560" y="914400"/>
            <a:ext cx="2560320" cy="2011680"/>
          </a:xfrm>
          <a:prstGeom prst="rect">
            <a:avLst/>
          </a:prstGeom>
          <a:noFill/>
          <a:ln/>
        </p:spPr>
        <p:txBody>
          <a:bodyPr wrap="square" lIns="0" tIns="0" rIns="0" bIns="0" rtlCol="0" anchor="ctr"/>
          <a:lstStyle/>
          <a:p>
            <a:pPr algn="r" indent="0" marL="0">
              <a:buNone/>
            </a:pPr>
            <a:r>
              <a:rPr lang="en-US" sz="11000" b="1" dirty="0">
                <a:solidFill>
                  <a:srgbClr val="23282E"/>
                </a:solidFill>
                <a:latin typeface="Georgia" pitchFamily="34" charset="0"/>
                <a:ea typeface="Georgia" pitchFamily="34" charset="-122"/>
                <a:cs typeface="Georgia" pitchFamily="34" charset="-120"/>
              </a:rPr>
              <a:t>03</a:t>
            </a:r>
            <a:endParaRPr lang="en-US" sz="11000" dirty="0"/>
          </a:p>
        </p:txBody>
      </p:sp>
      <p:sp>
        <p:nvSpPr>
          <p:cNvPr id="4" name="Text 2"/>
          <p:cNvSpPr/>
          <p:nvPr/>
        </p:nvSpPr>
        <p:spPr>
          <a:xfrm>
            <a:off x="822960" y="2331720"/>
            <a:ext cx="9692640" cy="1828800"/>
          </a:xfrm>
          <a:prstGeom prst="rect">
            <a:avLst/>
          </a:prstGeom>
          <a:noFill/>
          <a:ln/>
        </p:spPr>
        <p:txBody>
          <a:bodyPr wrap="square" lIns="0" tIns="0" rIns="0" bIns="0" rtlCol="0" anchor="ctr"/>
          <a:lstStyle/>
          <a:p>
            <a:pPr indent="0" marL="0">
              <a:lnSpc>
                <a:spcPts val="4400"/>
              </a:lnSpc>
              <a:buNone/>
            </a:pPr>
            <a:r>
              <a:rPr lang="en-US" sz="3800" b="1" dirty="0">
                <a:solidFill>
                  <a:srgbClr val="E8E4DB"/>
                </a:solidFill>
                <a:latin typeface="Georgia" pitchFamily="34" charset="0"/>
                <a:ea typeface="Georgia" pitchFamily="34" charset="-122"/>
                <a:cs typeface="Georgia" pitchFamily="34" charset="-120"/>
              </a:rPr>
              <a:t>How Much Treatment Does This Patient Actually Need?</a:t>
            </a:r>
            <a:endParaRPr lang="en-US" sz="3800" dirty="0"/>
          </a:p>
        </p:txBody>
      </p:sp>
      <p:sp>
        <p:nvSpPr>
          <p:cNvPr id="5" name="Text 3"/>
          <p:cNvSpPr/>
          <p:nvPr/>
        </p:nvSpPr>
        <p:spPr>
          <a:xfrm>
            <a:off x="822960" y="4160520"/>
            <a:ext cx="8686800" cy="731520"/>
          </a:xfrm>
          <a:prstGeom prst="rect">
            <a:avLst/>
          </a:prstGeom>
          <a:noFill/>
          <a:ln/>
        </p:spPr>
        <p:txBody>
          <a:bodyPr wrap="square" lIns="0" tIns="0" rIns="0" bIns="0" rtlCol="0" anchor="ctr"/>
          <a:lstStyle/>
          <a:p>
            <a:pPr indent="0" marL="0">
              <a:lnSpc>
                <a:spcPts val="2000"/>
              </a:lnSpc>
              <a:buNone/>
            </a:pPr>
            <a:r>
              <a:rPr lang="en-US" sz="1500" i="1" dirty="0">
                <a:solidFill>
                  <a:srgbClr val="9B968C"/>
                </a:solidFill>
                <a:latin typeface="Calibri" pitchFamily="34" charset="0"/>
                <a:ea typeface="Calibri" pitchFamily="34" charset="-122"/>
                <a:cs typeface="Calibri" pitchFamily="34" charset="-120"/>
              </a:rPr>
              <a:t>Overtreatment and undertreatment are two names for the same failure.</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IN HIS OWN WORDS</a:t>
            </a:r>
            <a:endParaRPr lang="en-US" sz="1200" dirty="0"/>
          </a:p>
        </p:txBody>
      </p:sp>
      <p:sp>
        <p:nvSpPr>
          <p:cNvPr id="3" name="Text 1"/>
          <p:cNvSpPr/>
          <p:nvPr/>
        </p:nvSpPr>
        <p:spPr>
          <a:xfrm>
            <a:off x="822960" y="1737360"/>
            <a:ext cx="9692640" cy="2468880"/>
          </a:xfrm>
          <a:prstGeom prst="rect">
            <a:avLst/>
          </a:prstGeom>
          <a:noFill/>
          <a:ln/>
        </p:spPr>
        <p:txBody>
          <a:bodyPr wrap="square" lIns="0" tIns="0" rIns="0" bIns="0" rtlCol="0" anchor="ctr"/>
          <a:lstStyle/>
          <a:p>
            <a:pPr indent="0" marL="0">
              <a:lnSpc>
                <a:spcPts val="4000"/>
              </a:lnSpc>
              <a:buNone/>
            </a:pPr>
            <a:r>
              <a:rPr lang="en-US" sz="3000" b="1" i="1" dirty="0">
                <a:solidFill>
                  <a:srgbClr val="201D18"/>
                </a:solidFill>
                <a:latin typeface="Georgia" pitchFamily="34" charset="0"/>
                <a:ea typeface="Georgia" pitchFamily="34" charset="-122"/>
                <a:cs typeface="Georgia" pitchFamily="34" charset="-120"/>
              </a:rPr>
              <a:t>“Some patients are overtreated, some are undertreated, and some get exactly the right treatment. My goal is to shrink the first two groups and grow the third.”</a:t>
            </a:r>
            <a:endParaRPr lang="en-US" sz="3000" dirty="0"/>
          </a:p>
        </p:txBody>
      </p:sp>
      <p:sp>
        <p:nvSpPr>
          <p:cNvPr id="4" name="Shape 2"/>
          <p:cNvSpPr/>
          <p:nvPr/>
        </p:nvSpPr>
        <p:spPr>
          <a:xfrm>
            <a:off x="822960" y="4343400"/>
            <a:ext cx="822960" cy="0"/>
          </a:xfrm>
          <a:prstGeom prst="line">
            <a:avLst/>
          </a:prstGeom>
          <a:noFill/>
          <a:ln w="25400">
            <a:solidFill>
              <a:srgbClr val="A3690C"/>
            </a:solidFill>
            <a:prstDash val="solid"/>
          </a:ln>
        </p:spPr>
      </p:sp>
      <p:sp>
        <p:nvSpPr>
          <p:cNvPr id="5" name="Text 3"/>
          <p:cNvSpPr/>
          <p:nvPr/>
        </p:nvSpPr>
        <p:spPr>
          <a:xfrm>
            <a:off x="822960" y="4480560"/>
            <a:ext cx="8229600" cy="457200"/>
          </a:xfrm>
          <a:prstGeom prst="rect">
            <a:avLst/>
          </a:prstGeom>
          <a:noFill/>
          <a:ln/>
        </p:spPr>
        <p:txBody>
          <a:bodyPr wrap="square" lIns="0" tIns="0" rIns="0" bIns="0" rtlCol="0" anchor="ctr"/>
          <a:lstStyle/>
          <a:p>
            <a:pPr indent="0" marL="0">
              <a:buNone/>
            </a:pPr>
            <a:r>
              <a:rPr lang="en-US" sz="1400" dirty="0">
                <a:solidFill>
                  <a:srgbClr val="6B6860"/>
                </a:solidFill>
                <a:latin typeface="Calibri" pitchFamily="34" charset="0"/>
                <a:ea typeface="Calibri" pitchFamily="34" charset="-122"/>
                <a:cs typeface="Calibri" pitchFamily="34" charset="-120"/>
              </a:rPr>
              <a:t>Felix Feng, MD, on the right treatment for the right patient at the right time</a:t>
            </a:r>
            <a:endParaRPr lang="en-US" sz="1400" dirty="0"/>
          </a:p>
        </p:txBody>
      </p:sp>
      <p:sp>
        <p:nvSpPr>
          <p:cNvPr id="6" name="Text 4"/>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UroToday, Nov 2022</a:t>
            </a:r>
            <a:endParaRPr lang="en-US" sz="1000" dirty="0"/>
          </a:p>
        </p:txBody>
      </p:sp>
      <p:sp>
        <p:nvSpPr>
          <p:cNvPr id="7" name="Text 5"/>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NRG/RTOG 9601 · GENOMIC CLASSIFIER VALIDATION</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Same Drug, Opposite Effect</a:t>
            </a:r>
            <a:endParaRPr lang="en-US" sz="3000" dirty="0"/>
          </a:p>
        </p:txBody>
      </p:sp>
      <p:sp>
        <p:nvSpPr>
          <p:cNvPr id="4" name="Text 2"/>
          <p:cNvSpPr/>
          <p:nvPr/>
        </p:nvSpPr>
        <p:spPr>
          <a:xfrm>
            <a:off x="548640" y="1691640"/>
            <a:ext cx="10515600" cy="365760"/>
          </a:xfrm>
          <a:prstGeom prst="rect">
            <a:avLst/>
          </a:prstGeom>
          <a:noFill/>
          <a:ln/>
        </p:spPr>
        <p:txBody>
          <a:bodyPr wrap="square" lIns="0" tIns="0" rIns="0" bIns="0" rtlCol="0" anchor="ctr"/>
          <a:lstStyle/>
          <a:p>
            <a:pPr indent="0" marL="0">
              <a:buNone/>
            </a:pPr>
            <a:r>
              <a:rPr lang="en-US" sz="1300" dirty="0">
                <a:solidFill>
                  <a:srgbClr val="6B6860"/>
                </a:solidFill>
                <a:latin typeface="Calibri" pitchFamily="34" charset="0"/>
                <a:ea typeface="Calibri" pitchFamily="34" charset="-122"/>
                <a:cs typeface="Calibri" pitchFamily="34" charset="-120"/>
              </a:rPr>
              <a:t>12-year absolute overall survival benefit of adding bicalutamide to salvage radiation</a:t>
            </a:r>
            <a:endParaRPr lang="en-US" sz="1300" dirty="0"/>
          </a:p>
        </p:txBody>
      </p:sp>
      <p:sp>
        <p:nvSpPr>
          <p:cNvPr id="5" name="Shape 3"/>
          <p:cNvSpPr/>
          <p:nvPr/>
        </p:nvSpPr>
        <p:spPr>
          <a:xfrm>
            <a:off x="548640" y="2194560"/>
            <a:ext cx="5120640" cy="3200400"/>
          </a:xfrm>
          <a:prstGeom prst="rect">
            <a:avLst/>
          </a:prstGeom>
          <a:solidFill>
            <a:srgbClr val="FFFFFF"/>
          </a:solidFill>
          <a:ln w="12700">
            <a:solidFill>
              <a:srgbClr val="E2DDD2"/>
            </a:solidFill>
            <a:prstDash val="solid"/>
          </a:ln>
        </p:spPr>
      </p:sp>
      <p:sp>
        <p:nvSpPr>
          <p:cNvPr id="6" name="Text 4"/>
          <p:cNvSpPr/>
          <p:nvPr/>
        </p:nvSpPr>
        <p:spPr>
          <a:xfrm>
            <a:off x="868680" y="2377440"/>
            <a:ext cx="4480560" cy="640080"/>
          </a:xfrm>
          <a:prstGeom prst="rect">
            <a:avLst/>
          </a:prstGeom>
          <a:noFill/>
          <a:ln/>
        </p:spPr>
        <p:txBody>
          <a:bodyPr wrap="square" lIns="0" tIns="0" rIns="0" bIns="0" rtlCol="0" anchor="ctr"/>
          <a:lstStyle/>
          <a:p>
            <a:pPr indent="0" marL="0">
              <a:lnSpc>
                <a:spcPts val="1900"/>
              </a:lnSpc>
              <a:buNone/>
            </a:pPr>
            <a:r>
              <a:rPr lang="en-US" sz="1500" b="1" dirty="0">
                <a:solidFill>
                  <a:srgbClr val="201D18"/>
                </a:solidFill>
                <a:latin typeface="Calibri" pitchFamily="34" charset="0"/>
                <a:ea typeface="Calibri" pitchFamily="34" charset="-122"/>
                <a:cs typeface="Calibri" pitchFamily="34" charset="-120"/>
              </a:rPr>
              <a:t>Low genomic</a:t>
            </a:r>
            <a:endParaRPr lang="en-US" sz="1500" dirty="0"/>
          </a:p>
          <a:p>
            <a:pPr indent="0" marL="0">
              <a:lnSpc>
                <a:spcPts val="1900"/>
              </a:lnSpc>
              <a:buNone/>
            </a:pPr>
            <a:r>
              <a:rPr lang="en-US" sz="1500" b="1" dirty="0">
                <a:solidFill>
                  <a:srgbClr val="201D18"/>
                </a:solidFill>
                <a:latin typeface="Calibri" pitchFamily="34" charset="0"/>
                <a:ea typeface="Calibri" pitchFamily="34" charset="-122"/>
                <a:cs typeface="Calibri" pitchFamily="34" charset="-120"/>
              </a:rPr>
              <a:t>classifier score</a:t>
            </a:r>
            <a:endParaRPr lang="en-US" sz="1500" dirty="0"/>
          </a:p>
        </p:txBody>
      </p:sp>
      <p:sp>
        <p:nvSpPr>
          <p:cNvPr id="7" name="Text 5"/>
          <p:cNvSpPr/>
          <p:nvPr/>
        </p:nvSpPr>
        <p:spPr>
          <a:xfrm>
            <a:off x="868680" y="3063240"/>
            <a:ext cx="4480560" cy="274320"/>
          </a:xfrm>
          <a:prstGeom prst="rect">
            <a:avLst/>
          </a:prstGeom>
          <a:noFill/>
          <a:ln/>
        </p:spPr>
        <p:txBody>
          <a:bodyPr wrap="square" lIns="0" tIns="0" rIns="0" bIns="0" rtlCol="0" anchor="ctr"/>
          <a:lstStyle/>
          <a:p>
            <a:pPr indent="0" marL="0">
              <a:buNone/>
            </a:pPr>
            <a:r>
              <a:rPr lang="en-US" sz="1100" dirty="0">
                <a:solidFill>
                  <a:srgbClr val="6B6860"/>
                </a:solidFill>
                <a:latin typeface="Calibri" pitchFamily="34" charset="0"/>
                <a:ea typeface="Calibri" pitchFamily="34" charset="-122"/>
                <a:cs typeface="Calibri" pitchFamily="34" charset="-120"/>
              </a:rPr>
              <a:t>All patients</a:t>
            </a:r>
            <a:endParaRPr lang="en-US" sz="1100" dirty="0"/>
          </a:p>
        </p:txBody>
      </p:sp>
      <p:sp>
        <p:nvSpPr>
          <p:cNvPr id="8" name="Text 6"/>
          <p:cNvSpPr/>
          <p:nvPr/>
        </p:nvSpPr>
        <p:spPr>
          <a:xfrm>
            <a:off x="868680" y="3291840"/>
            <a:ext cx="4480560" cy="640080"/>
          </a:xfrm>
          <a:prstGeom prst="rect">
            <a:avLst/>
          </a:prstGeom>
          <a:noFill/>
          <a:ln/>
        </p:spPr>
        <p:txBody>
          <a:bodyPr wrap="square" lIns="0" tIns="0" rIns="0" bIns="0" rtlCol="0" anchor="ctr"/>
          <a:lstStyle/>
          <a:p>
            <a:pPr indent="0" marL="0">
              <a:buNone/>
            </a:pPr>
            <a:r>
              <a:rPr lang="en-US" sz="3400" b="1" dirty="0">
                <a:solidFill>
                  <a:srgbClr val="6B6860"/>
                </a:solidFill>
                <a:latin typeface="Georgia" pitchFamily="34" charset="0"/>
                <a:ea typeface="Georgia" pitchFamily="34" charset="-122"/>
                <a:cs typeface="Georgia" pitchFamily="34" charset="-120"/>
              </a:rPr>
              <a:t>+2.4%</a:t>
            </a:r>
            <a:endParaRPr lang="en-US" sz="3400" dirty="0"/>
          </a:p>
        </p:txBody>
      </p:sp>
      <p:sp>
        <p:nvSpPr>
          <p:cNvPr id="9" name="Text 7"/>
          <p:cNvSpPr/>
          <p:nvPr/>
        </p:nvSpPr>
        <p:spPr>
          <a:xfrm>
            <a:off x="868680" y="3977640"/>
            <a:ext cx="4480560" cy="274320"/>
          </a:xfrm>
          <a:prstGeom prst="rect">
            <a:avLst/>
          </a:prstGeom>
          <a:noFill/>
          <a:ln/>
        </p:spPr>
        <p:txBody>
          <a:bodyPr wrap="square" lIns="0" tIns="0" rIns="0" bIns="0" rtlCol="0" anchor="ctr"/>
          <a:lstStyle/>
          <a:p>
            <a:pPr indent="0" marL="0">
              <a:buNone/>
            </a:pPr>
            <a:r>
              <a:rPr lang="en-US" sz="1100" dirty="0">
                <a:solidFill>
                  <a:srgbClr val="6B6860"/>
                </a:solidFill>
                <a:latin typeface="Calibri" pitchFamily="34" charset="0"/>
                <a:ea typeface="Calibri" pitchFamily="34" charset="-122"/>
                <a:cs typeface="Calibri" pitchFamily="34" charset="-120"/>
              </a:rPr>
              <a:t>Early salvage RT, PSA &lt;0.7</a:t>
            </a:r>
            <a:endParaRPr lang="en-US" sz="1100" dirty="0"/>
          </a:p>
        </p:txBody>
      </p:sp>
      <p:sp>
        <p:nvSpPr>
          <p:cNvPr id="10" name="Text 8"/>
          <p:cNvSpPr/>
          <p:nvPr/>
        </p:nvSpPr>
        <p:spPr>
          <a:xfrm>
            <a:off x="868680" y="4206240"/>
            <a:ext cx="4480560" cy="640080"/>
          </a:xfrm>
          <a:prstGeom prst="rect">
            <a:avLst/>
          </a:prstGeom>
          <a:noFill/>
          <a:ln/>
        </p:spPr>
        <p:txBody>
          <a:bodyPr wrap="square" lIns="0" tIns="0" rIns="0" bIns="0" rtlCol="0" anchor="ctr"/>
          <a:lstStyle/>
          <a:p>
            <a:pPr indent="0" marL="0">
              <a:buNone/>
            </a:pPr>
            <a:r>
              <a:rPr lang="en-US" sz="3400" b="1" dirty="0">
                <a:solidFill>
                  <a:srgbClr val="6B6860"/>
                </a:solidFill>
                <a:latin typeface="Georgia" pitchFamily="34" charset="0"/>
                <a:ea typeface="Georgia" pitchFamily="34" charset="-122"/>
                <a:cs typeface="Georgia" pitchFamily="34" charset="-120"/>
              </a:rPr>
              <a:t>−7.8%</a:t>
            </a:r>
            <a:endParaRPr lang="en-US" sz="3400" dirty="0"/>
          </a:p>
        </p:txBody>
      </p:sp>
      <p:sp>
        <p:nvSpPr>
          <p:cNvPr id="11" name="Shape 9"/>
          <p:cNvSpPr/>
          <p:nvPr/>
        </p:nvSpPr>
        <p:spPr>
          <a:xfrm>
            <a:off x="6035040" y="2194560"/>
            <a:ext cx="5120640" cy="3200400"/>
          </a:xfrm>
          <a:prstGeom prst="rect">
            <a:avLst/>
          </a:prstGeom>
          <a:solidFill>
            <a:srgbClr val="FFFFFF"/>
          </a:solidFill>
          <a:ln w="12700">
            <a:solidFill>
              <a:srgbClr val="E2DDD2"/>
            </a:solidFill>
            <a:prstDash val="solid"/>
          </a:ln>
        </p:spPr>
      </p:sp>
      <p:sp>
        <p:nvSpPr>
          <p:cNvPr id="12" name="Text 10"/>
          <p:cNvSpPr/>
          <p:nvPr/>
        </p:nvSpPr>
        <p:spPr>
          <a:xfrm>
            <a:off x="6355080" y="2377440"/>
            <a:ext cx="4480560" cy="640080"/>
          </a:xfrm>
          <a:prstGeom prst="rect">
            <a:avLst/>
          </a:prstGeom>
          <a:noFill/>
          <a:ln/>
        </p:spPr>
        <p:txBody>
          <a:bodyPr wrap="square" lIns="0" tIns="0" rIns="0" bIns="0" rtlCol="0" anchor="ctr"/>
          <a:lstStyle/>
          <a:p>
            <a:pPr indent="0" marL="0">
              <a:lnSpc>
                <a:spcPts val="1900"/>
              </a:lnSpc>
              <a:buNone/>
            </a:pPr>
            <a:r>
              <a:rPr lang="en-US" sz="1500" b="1" dirty="0">
                <a:solidFill>
                  <a:srgbClr val="201D18"/>
                </a:solidFill>
                <a:latin typeface="Calibri" pitchFamily="34" charset="0"/>
                <a:ea typeface="Calibri" pitchFamily="34" charset="-122"/>
                <a:cs typeface="Calibri" pitchFamily="34" charset="-120"/>
              </a:rPr>
              <a:t>High genomic</a:t>
            </a:r>
            <a:endParaRPr lang="en-US" sz="1500" dirty="0"/>
          </a:p>
          <a:p>
            <a:pPr indent="0" marL="0">
              <a:lnSpc>
                <a:spcPts val="1900"/>
              </a:lnSpc>
              <a:buNone/>
            </a:pPr>
            <a:r>
              <a:rPr lang="en-US" sz="1500" b="1" dirty="0">
                <a:solidFill>
                  <a:srgbClr val="201D18"/>
                </a:solidFill>
                <a:latin typeface="Calibri" pitchFamily="34" charset="0"/>
                <a:ea typeface="Calibri" pitchFamily="34" charset="-122"/>
                <a:cs typeface="Calibri" pitchFamily="34" charset="-120"/>
              </a:rPr>
              <a:t>classifier score</a:t>
            </a:r>
            <a:endParaRPr lang="en-US" sz="1500" dirty="0"/>
          </a:p>
        </p:txBody>
      </p:sp>
      <p:sp>
        <p:nvSpPr>
          <p:cNvPr id="13" name="Text 11"/>
          <p:cNvSpPr/>
          <p:nvPr/>
        </p:nvSpPr>
        <p:spPr>
          <a:xfrm>
            <a:off x="6355080" y="3063240"/>
            <a:ext cx="4480560" cy="274320"/>
          </a:xfrm>
          <a:prstGeom prst="rect">
            <a:avLst/>
          </a:prstGeom>
          <a:noFill/>
          <a:ln/>
        </p:spPr>
        <p:txBody>
          <a:bodyPr wrap="square" lIns="0" tIns="0" rIns="0" bIns="0" rtlCol="0" anchor="ctr"/>
          <a:lstStyle/>
          <a:p>
            <a:pPr indent="0" marL="0">
              <a:buNone/>
            </a:pPr>
            <a:r>
              <a:rPr lang="en-US" sz="1100" dirty="0">
                <a:solidFill>
                  <a:srgbClr val="6B6860"/>
                </a:solidFill>
                <a:latin typeface="Calibri" pitchFamily="34" charset="0"/>
                <a:ea typeface="Calibri" pitchFamily="34" charset="-122"/>
                <a:cs typeface="Calibri" pitchFamily="34" charset="-120"/>
              </a:rPr>
              <a:t>All patients</a:t>
            </a:r>
            <a:endParaRPr lang="en-US" sz="1100" dirty="0"/>
          </a:p>
        </p:txBody>
      </p:sp>
      <p:sp>
        <p:nvSpPr>
          <p:cNvPr id="14" name="Text 12"/>
          <p:cNvSpPr/>
          <p:nvPr/>
        </p:nvSpPr>
        <p:spPr>
          <a:xfrm>
            <a:off x="6355080" y="3291840"/>
            <a:ext cx="4480560" cy="640080"/>
          </a:xfrm>
          <a:prstGeom prst="rect">
            <a:avLst/>
          </a:prstGeom>
          <a:noFill/>
          <a:ln/>
        </p:spPr>
        <p:txBody>
          <a:bodyPr wrap="square" lIns="0" tIns="0" rIns="0" bIns="0" rtlCol="0" anchor="ctr"/>
          <a:lstStyle/>
          <a:p>
            <a:pPr indent="0" marL="0">
              <a:buNone/>
            </a:pPr>
            <a:r>
              <a:rPr lang="en-US" sz="3400" b="1" dirty="0">
                <a:solidFill>
                  <a:srgbClr val="A3690C"/>
                </a:solidFill>
                <a:latin typeface="Georgia" pitchFamily="34" charset="0"/>
                <a:ea typeface="Georgia" pitchFamily="34" charset="-122"/>
                <a:cs typeface="Georgia" pitchFamily="34" charset="-120"/>
              </a:rPr>
              <a:t>+8.9%</a:t>
            </a:r>
            <a:endParaRPr lang="en-US" sz="3400" dirty="0"/>
          </a:p>
        </p:txBody>
      </p:sp>
      <p:sp>
        <p:nvSpPr>
          <p:cNvPr id="15" name="Text 13"/>
          <p:cNvSpPr/>
          <p:nvPr/>
        </p:nvSpPr>
        <p:spPr>
          <a:xfrm>
            <a:off x="6355080" y="3977640"/>
            <a:ext cx="4480560" cy="274320"/>
          </a:xfrm>
          <a:prstGeom prst="rect">
            <a:avLst/>
          </a:prstGeom>
          <a:noFill/>
          <a:ln/>
        </p:spPr>
        <p:txBody>
          <a:bodyPr wrap="square" lIns="0" tIns="0" rIns="0" bIns="0" rtlCol="0" anchor="ctr"/>
          <a:lstStyle/>
          <a:p>
            <a:pPr indent="0" marL="0">
              <a:buNone/>
            </a:pPr>
            <a:r>
              <a:rPr lang="en-US" sz="1100" dirty="0">
                <a:solidFill>
                  <a:srgbClr val="6B6860"/>
                </a:solidFill>
                <a:latin typeface="Calibri" pitchFamily="34" charset="0"/>
                <a:ea typeface="Calibri" pitchFamily="34" charset="-122"/>
                <a:cs typeface="Calibri" pitchFamily="34" charset="-120"/>
              </a:rPr>
              <a:t>Early salvage RT, PSA &lt;0.7</a:t>
            </a:r>
            <a:endParaRPr lang="en-US" sz="1100" dirty="0"/>
          </a:p>
        </p:txBody>
      </p:sp>
      <p:sp>
        <p:nvSpPr>
          <p:cNvPr id="16" name="Text 14"/>
          <p:cNvSpPr/>
          <p:nvPr/>
        </p:nvSpPr>
        <p:spPr>
          <a:xfrm>
            <a:off x="6355080" y="4206240"/>
            <a:ext cx="4480560" cy="640080"/>
          </a:xfrm>
          <a:prstGeom prst="rect">
            <a:avLst/>
          </a:prstGeom>
          <a:noFill/>
          <a:ln/>
        </p:spPr>
        <p:txBody>
          <a:bodyPr wrap="square" lIns="0" tIns="0" rIns="0" bIns="0" rtlCol="0" anchor="ctr"/>
          <a:lstStyle/>
          <a:p>
            <a:pPr indent="0" marL="0">
              <a:buNone/>
            </a:pPr>
            <a:r>
              <a:rPr lang="en-US" sz="3400" b="1" dirty="0">
                <a:solidFill>
                  <a:srgbClr val="A3690C"/>
                </a:solidFill>
                <a:latin typeface="Georgia" pitchFamily="34" charset="0"/>
                <a:ea typeface="Georgia" pitchFamily="34" charset="-122"/>
                <a:cs typeface="Georgia" pitchFamily="34" charset="-120"/>
              </a:rPr>
              <a:t>+4.6%</a:t>
            </a:r>
            <a:endParaRPr lang="en-US" sz="3400" dirty="0"/>
          </a:p>
        </p:txBody>
      </p:sp>
      <p:sp>
        <p:nvSpPr>
          <p:cNvPr id="17" name="Text 15"/>
          <p:cNvSpPr/>
          <p:nvPr/>
        </p:nvSpPr>
        <p:spPr>
          <a:xfrm>
            <a:off x="548640" y="5532120"/>
            <a:ext cx="10515600" cy="548640"/>
          </a:xfrm>
          <a:prstGeom prst="rect">
            <a:avLst/>
          </a:prstGeom>
          <a:noFill/>
          <a:ln/>
        </p:spPr>
        <p:txBody>
          <a:bodyPr wrap="square" lIns="0" tIns="0" rIns="0" bIns="0" rtlCol="0" anchor="ctr"/>
          <a:lstStyle/>
          <a:p>
            <a:pPr indent="0" marL="0">
              <a:lnSpc>
                <a:spcPts val="1700"/>
              </a:lnSpc>
              <a:buNone/>
            </a:pPr>
            <a:r>
              <a:rPr lang="en-US" sz="1300" i="1" dirty="0">
                <a:solidFill>
                  <a:srgbClr val="201D18"/>
                </a:solidFill>
                <a:latin typeface="Calibri" pitchFamily="34" charset="0"/>
                <a:ea typeface="Calibri" pitchFamily="34" charset="-122"/>
                <a:cs typeface="Calibri" pitchFamily="34" charset="-120"/>
              </a:rPr>
              <a:t>Men most likely to be reflexively given extra hormone therapy were, on average, the ones being harmed by it.</a:t>
            </a:r>
            <a:endParaRPr lang="en-US" sz="1300" dirty="0"/>
          </a:p>
        </p:txBody>
      </p:sp>
      <p:sp>
        <p:nvSpPr>
          <p:cNvPr id="18" name="Text 16"/>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Feng et al., JAMA Oncol 2021</a:t>
            </a:r>
            <a:endParaRPr lang="en-US" sz="1000" dirty="0"/>
          </a:p>
        </p:txBody>
      </p:sp>
      <p:sp>
        <p:nvSpPr>
          <p:cNvPr id="19" name="Text 1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PORTOS · A PREDICTIVE, NOT JUST PROGNOSTIC, TEST</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Radiation Works, or It Does Not — and Now We Can Tell</a:t>
            </a:r>
            <a:endParaRPr lang="en-US" sz="3000" dirty="0"/>
          </a:p>
        </p:txBody>
      </p:sp>
      <p:sp>
        <p:nvSpPr>
          <p:cNvPr id="4" name="Shape 2"/>
          <p:cNvSpPr/>
          <p:nvPr/>
        </p:nvSpPr>
        <p:spPr>
          <a:xfrm>
            <a:off x="548640" y="2103120"/>
            <a:ext cx="5120640" cy="2377440"/>
          </a:xfrm>
          <a:prstGeom prst="rect">
            <a:avLst/>
          </a:prstGeom>
          <a:solidFill>
            <a:srgbClr val="FFFFFF"/>
          </a:solidFill>
          <a:ln w="12700">
            <a:solidFill>
              <a:srgbClr val="E2DDD2"/>
            </a:solidFill>
            <a:prstDash val="solid"/>
          </a:ln>
        </p:spPr>
      </p:sp>
      <p:sp>
        <p:nvSpPr>
          <p:cNvPr id="5" name="Text 3"/>
          <p:cNvSpPr/>
          <p:nvPr/>
        </p:nvSpPr>
        <p:spPr>
          <a:xfrm>
            <a:off x="777240" y="2212848"/>
            <a:ext cx="4663440" cy="1188720"/>
          </a:xfrm>
          <a:prstGeom prst="rect">
            <a:avLst/>
          </a:prstGeom>
          <a:noFill/>
          <a:ln/>
        </p:spPr>
        <p:txBody>
          <a:bodyPr wrap="square" lIns="0" tIns="0" rIns="0" bIns="0" rtlCol="0" anchor="b"/>
          <a:lstStyle/>
          <a:p>
            <a:pPr algn="l" indent="0" marL="0">
              <a:buNone/>
            </a:pPr>
            <a:r>
              <a:rPr lang="en-US" sz="3200" b="1" dirty="0">
                <a:solidFill>
                  <a:srgbClr val="0F6E67"/>
                </a:solidFill>
                <a:latin typeface="Georgia" pitchFamily="34" charset="0"/>
                <a:ea typeface="Georgia" pitchFamily="34" charset="-122"/>
                <a:cs typeface="Georgia" pitchFamily="34" charset="-120"/>
              </a:rPr>
              <a:t>5% vs 63%</a:t>
            </a:r>
            <a:endParaRPr lang="en-US" sz="3200" dirty="0"/>
          </a:p>
        </p:txBody>
      </p:sp>
      <p:sp>
        <p:nvSpPr>
          <p:cNvPr id="6" name="Text 4"/>
          <p:cNvSpPr/>
          <p:nvPr/>
        </p:nvSpPr>
        <p:spPr>
          <a:xfrm>
            <a:off x="777240" y="3624682"/>
            <a:ext cx="4663440" cy="760781"/>
          </a:xfrm>
          <a:prstGeom prst="rect">
            <a:avLst/>
          </a:prstGeom>
          <a:noFill/>
          <a:ln/>
        </p:spPr>
        <p:txBody>
          <a:bodyPr wrap="square" lIns="0" tIns="0" rIns="0" bIns="0" rtlCol="0" anchor="t"/>
          <a:lstStyle/>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10-year metastasis with vs. without radiation,</a:t>
            </a:r>
            <a:endParaRPr lang="en-US" sz="1150" dirty="0"/>
          </a:p>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high PORTOS score (HR 0.12)</a:t>
            </a:r>
            <a:endParaRPr lang="en-US" sz="1150" dirty="0"/>
          </a:p>
        </p:txBody>
      </p:sp>
      <p:sp>
        <p:nvSpPr>
          <p:cNvPr id="7" name="Shape 5"/>
          <p:cNvSpPr/>
          <p:nvPr/>
        </p:nvSpPr>
        <p:spPr>
          <a:xfrm>
            <a:off x="6035040" y="2103120"/>
            <a:ext cx="5577840" cy="2377440"/>
          </a:xfrm>
          <a:prstGeom prst="rect">
            <a:avLst/>
          </a:prstGeom>
          <a:solidFill>
            <a:srgbClr val="FFFFFF"/>
          </a:solidFill>
          <a:ln w="12700">
            <a:solidFill>
              <a:srgbClr val="E2DDD2"/>
            </a:solidFill>
            <a:prstDash val="solid"/>
          </a:ln>
        </p:spPr>
      </p:sp>
      <p:sp>
        <p:nvSpPr>
          <p:cNvPr id="8" name="Text 6"/>
          <p:cNvSpPr/>
          <p:nvPr/>
        </p:nvSpPr>
        <p:spPr>
          <a:xfrm>
            <a:off x="6263640" y="2212848"/>
            <a:ext cx="5120640" cy="1188720"/>
          </a:xfrm>
          <a:prstGeom prst="rect">
            <a:avLst/>
          </a:prstGeom>
          <a:noFill/>
          <a:ln/>
        </p:spPr>
        <p:txBody>
          <a:bodyPr wrap="square" lIns="0" tIns="0" rIns="0" bIns="0" rtlCol="0" anchor="b"/>
          <a:lstStyle/>
          <a:p>
            <a:pPr algn="l" indent="0" marL="0">
              <a:buNone/>
            </a:pPr>
            <a:r>
              <a:rPr lang="en-US" sz="3200" b="1" dirty="0">
                <a:solidFill>
                  <a:srgbClr val="5C5750"/>
                </a:solidFill>
                <a:latin typeface="Georgia" pitchFamily="34" charset="0"/>
                <a:ea typeface="Georgia" pitchFamily="34" charset="-122"/>
                <a:cs typeface="Georgia" pitchFamily="34" charset="-120"/>
              </a:rPr>
              <a:t>No benefit</a:t>
            </a:r>
            <a:endParaRPr lang="en-US" sz="3200" dirty="0"/>
          </a:p>
        </p:txBody>
      </p:sp>
      <p:sp>
        <p:nvSpPr>
          <p:cNvPr id="9" name="Text 7"/>
          <p:cNvSpPr/>
          <p:nvPr/>
        </p:nvSpPr>
        <p:spPr>
          <a:xfrm>
            <a:off x="6263640" y="3624682"/>
            <a:ext cx="5120640" cy="760781"/>
          </a:xfrm>
          <a:prstGeom prst="rect">
            <a:avLst/>
          </a:prstGeom>
          <a:noFill/>
          <a:ln/>
        </p:spPr>
        <p:txBody>
          <a:bodyPr wrap="square" lIns="0" tIns="0" rIns="0" bIns="0" rtlCol="0" anchor="t"/>
          <a:lstStyle/>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Radiation conferred no measurable benefit</a:t>
            </a:r>
            <a:endParaRPr lang="en-US" sz="1150" dirty="0"/>
          </a:p>
          <a:p>
            <a:pPr algn="l" indent="0" marL="0">
              <a:lnSpc>
                <a:spcPts val="1400"/>
              </a:lnSpc>
              <a:buNone/>
            </a:pPr>
            <a:r>
              <a:rPr lang="en-US" sz="1150" dirty="0">
                <a:solidFill>
                  <a:srgbClr val="6B6860"/>
                </a:solidFill>
                <a:latin typeface="Calibri" pitchFamily="34" charset="0"/>
                <a:ea typeface="Calibri" pitchFamily="34" charset="-122"/>
                <a:cs typeface="Calibri" pitchFamily="34" charset="-120"/>
              </a:rPr>
              <a:t>at all in low PORTOS score patients</a:t>
            </a:r>
            <a:endParaRPr lang="en-US" sz="1150" dirty="0"/>
          </a:p>
        </p:txBody>
      </p:sp>
      <p:sp>
        <p:nvSpPr>
          <p:cNvPr id="10" name="Text 8"/>
          <p:cNvSpPr/>
          <p:nvPr/>
        </p:nvSpPr>
        <p:spPr>
          <a:xfrm>
            <a:off x="548640" y="4754880"/>
            <a:ext cx="10515600" cy="1005840"/>
          </a:xfrm>
          <a:prstGeom prst="rect">
            <a:avLst/>
          </a:prstGeom>
          <a:noFill/>
          <a:ln/>
        </p:spPr>
        <p:txBody>
          <a:bodyPr wrap="square" lIns="0" tIns="0" rIns="0" bIns="0" rtlCol="0" anchor="ctr"/>
          <a:lstStyle/>
          <a:p>
            <a:pPr indent="0" marL="0">
              <a:lnSpc>
                <a:spcPts val="2000"/>
              </a:lnSpc>
              <a:buNone/>
            </a:pPr>
            <a:r>
              <a:rPr lang="en-US" sz="1400" i="1" dirty="0">
                <a:solidFill>
                  <a:srgbClr val="201D18"/>
                </a:solidFill>
                <a:latin typeface="Calibri" pitchFamily="34" charset="0"/>
                <a:ea typeface="Calibri" pitchFamily="34" charset="-122"/>
                <a:cs typeface="Calibri" pitchFamily="34" charset="-120"/>
              </a:rPr>
              <a:t>A test that only tells you a patient is at higher risk is a prognostic test. A test that tells you a specific treatment will not help this specific patient is a permission slip to spare that patient a treatment altogether.</a:t>
            </a:r>
            <a:endParaRPr lang="en-US" sz="1400" dirty="0"/>
          </a:p>
        </p:txBody>
      </p:sp>
      <p:sp>
        <p:nvSpPr>
          <p:cNvPr id="11" name="Text 9"/>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Zhao et al., Lancet Oncol 2016</a:t>
            </a:r>
            <a:endParaRPr lang="en-US" sz="1000" dirty="0"/>
          </a:p>
        </p:txBody>
      </p:sp>
      <p:sp>
        <p:nvSpPr>
          <p:cNvPr id="12" name="Text 1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THE NRG ONCOLOGY GU PORTFOLIO HE CHAIRED</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From Classifier to Practice-Changing Trial</a:t>
            </a:r>
            <a:endParaRPr lang="en-US" sz="3000" dirty="0"/>
          </a:p>
        </p:txBody>
      </p:sp>
      <p:sp>
        <p:nvSpPr>
          <p:cNvPr id="4" name="Shape 2"/>
          <p:cNvSpPr/>
          <p:nvPr/>
        </p:nvSpPr>
        <p:spPr>
          <a:xfrm>
            <a:off x="548640" y="1920240"/>
            <a:ext cx="10515600" cy="1170432"/>
          </a:xfrm>
          <a:prstGeom prst="rect">
            <a:avLst/>
          </a:prstGeom>
          <a:solidFill>
            <a:srgbClr val="FFFFFF"/>
          </a:solidFill>
          <a:ln w="12700">
            <a:solidFill>
              <a:srgbClr val="E2DDD2"/>
            </a:solidFill>
            <a:prstDash val="solid"/>
          </a:ln>
        </p:spPr>
      </p:sp>
      <p:sp>
        <p:nvSpPr>
          <p:cNvPr id="5" name="Text 3"/>
          <p:cNvSpPr/>
          <p:nvPr/>
        </p:nvSpPr>
        <p:spPr>
          <a:xfrm>
            <a:off x="822960" y="2048256"/>
            <a:ext cx="2834640" cy="914400"/>
          </a:xfrm>
          <a:prstGeom prst="rect">
            <a:avLst/>
          </a:prstGeom>
          <a:noFill/>
          <a:ln/>
        </p:spPr>
        <p:txBody>
          <a:bodyPr wrap="square" lIns="0" tIns="0" rIns="0" bIns="0" rtlCol="0" anchor="t"/>
          <a:lstStyle/>
          <a:p>
            <a:pPr indent="0" marL="0">
              <a:lnSpc>
                <a:spcPts val="1800"/>
              </a:lnSpc>
              <a:buNone/>
            </a:pPr>
            <a:r>
              <a:rPr lang="en-US" sz="1500" b="1" dirty="0">
                <a:solidFill>
                  <a:srgbClr val="0F6E67"/>
                </a:solidFill>
                <a:latin typeface="Georgia" pitchFamily="34" charset="0"/>
                <a:ea typeface="Georgia" pitchFamily="34" charset="-122"/>
                <a:cs typeface="Georgia" pitchFamily="34" charset="-120"/>
              </a:rPr>
              <a:t>PREDICT-RT (NRG-GU009)</a:t>
            </a:r>
            <a:endParaRPr lang="en-US" sz="1500" dirty="0"/>
          </a:p>
        </p:txBody>
      </p:sp>
      <p:sp>
        <p:nvSpPr>
          <p:cNvPr id="6" name="Text 4"/>
          <p:cNvSpPr/>
          <p:nvPr/>
        </p:nvSpPr>
        <p:spPr>
          <a:xfrm>
            <a:off x="3794760" y="2048256"/>
            <a:ext cx="7086600" cy="914400"/>
          </a:xfrm>
          <a:prstGeom prst="rect">
            <a:avLst/>
          </a:prstGeom>
          <a:noFill/>
          <a:ln/>
        </p:spPr>
        <p:txBody>
          <a:bodyPr wrap="square" lIns="0" tIns="0" rIns="0" bIns="0" rtlCol="0" anchor="t"/>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Genomic-classifier-guided intensification/de-intensification of therapy for high-risk disease. Accrual completed September 2025.</a:t>
            </a:r>
            <a:endParaRPr lang="en-US" sz="1250" dirty="0"/>
          </a:p>
        </p:txBody>
      </p:sp>
      <p:sp>
        <p:nvSpPr>
          <p:cNvPr id="7" name="Shape 5"/>
          <p:cNvSpPr/>
          <p:nvPr/>
        </p:nvSpPr>
        <p:spPr>
          <a:xfrm>
            <a:off x="548640" y="3236976"/>
            <a:ext cx="10515600" cy="1170432"/>
          </a:xfrm>
          <a:prstGeom prst="rect">
            <a:avLst/>
          </a:prstGeom>
          <a:solidFill>
            <a:srgbClr val="FFFFFF"/>
          </a:solidFill>
          <a:ln w="12700">
            <a:solidFill>
              <a:srgbClr val="E2DDD2"/>
            </a:solidFill>
            <a:prstDash val="solid"/>
          </a:ln>
        </p:spPr>
      </p:sp>
      <p:sp>
        <p:nvSpPr>
          <p:cNvPr id="8" name="Text 6"/>
          <p:cNvSpPr/>
          <p:nvPr/>
        </p:nvSpPr>
        <p:spPr>
          <a:xfrm>
            <a:off x="822960" y="3364992"/>
            <a:ext cx="2834640" cy="914400"/>
          </a:xfrm>
          <a:prstGeom prst="rect">
            <a:avLst/>
          </a:prstGeom>
          <a:noFill/>
          <a:ln/>
        </p:spPr>
        <p:txBody>
          <a:bodyPr wrap="square" lIns="0" tIns="0" rIns="0" bIns="0" rtlCol="0" anchor="t"/>
          <a:lstStyle/>
          <a:p>
            <a:pPr indent="0" marL="0">
              <a:lnSpc>
                <a:spcPts val="1800"/>
              </a:lnSpc>
              <a:buNone/>
            </a:pPr>
            <a:r>
              <a:rPr lang="en-US" sz="1500" b="1" dirty="0">
                <a:solidFill>
                  <a:srgbClr val="0F6E67"/>
                </a:solidFill>
                <a:latin typeface="Georgia" pitchFamily="34" charset="0"/>
                <a:ea typeface="Georgia" pitchFamily="34" charset="-122"/>
                <a:cs typeface="Georgia" pitchFamily="34" charset="-120"/>
              </a:rPr>
              <a:t>GUIDANCE (NRG-GU010)</a:t>
            </a:r>
            <a:endParaRPr lang="en-US" sz="1500" dirty="0"/>
          </a:p>
        </p:txBody>
      </p:sp>
      <p:sp>
        <p:nvSpPr>
          <p:cNvPr id="9" name="Text 7"/>
          <p:cNvSpPr/>
          <p:nvPr/>
        </p:nvSpPr>
        <p:spPr>
          <a:xfrm>
            <a:off x="3794760" y="3364992"/>
            <a:ext cx="7086600" cy="914400"/>
          </a:xfrm>
          <a:prstGeom prst="rect">
            <a:avLst/>
          </a:prstGeom>
          <a:noFill/>
          <a:ln/>
        </p:spPr>
        <p:txBody>
          <a:bodyPr wrap="square" lIns="0" tIns="0" rIns="0" bIns="0" rtlCol="0" anchor="t"/>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Genomic-classifier-guided management of intermediate-risk prostate cancer.</a:t>
            </a:r>
            <a:endParaRPr lang="en-US" sz="1250" dirty="0"/>
          </a:p>
        </p:txBody>
      </p:sp>
      <p:sp>
        <p:nvSpPr>
          <p:cNvPr id="10" name="Shape 8"/>
          <p:cNvSpPr/>
          <p:nvPr/>
        </p:nvSpPr>
        <p:spPr>
          <a:xfrm>
            <a:off x="548640" y="4553712"/>
            <a:ext cx="10515600" cy="1170432"/>
          </a:xfrm>
          <a:prstGeom prst="rect">
            <a:avLst/>
          </a:prstGeom>
          <a:solidFill>
            <a:srgbClr val="FFFFFF"/>
          </a:solidFill>
          <a:ln w="12700">
            <a:solidFill>
              <a:srgbClr val="E2DDD2"/>
            </a:solidFill>
            <a:prstDash val="solid"/>
          </a:ln>
        </p:spPr>
      </p:sp>
      <p:sp>
        <p:nvSpPr>
          <p:cNvPr id="11" name="Text 9"/>
          <p:cNvSpPr/>
          <p:nvPr/>
        </p:nvSpPr>
        <p:spPr>
          <a:xfrm>
            <a:off x="822960" y="4681728"/>
            <a:ext cx="2834640" cy="914400"/>
          </a:xfrm>
          <a:prstGeom prst="rect">
            <a:avLst/>
          </a:prstGeom>
          <a:noFill/>
          <a:ln/>
        </p:spPr>
        <p:txBody>
          <a:bodyPr wrap="square" lIns="0" tIns="0" rIns="0" bIns="0" rtlCol="0" anchor="t"/>
          <a:lstStyle/>
          <a:p>
            <a:pPr indent="0" marL="0">
              <a:lnSpc>
                <a:spcPts val="1800"/>
              </a:lnSpc>
              <a:buNone/>
            </a:pPr>
            <a:r>
              <a:rPr lang="en-US" sz="1500" b="1" dirty="0">
                <a:solidFill>
                  <a:srgbClr val="0F6E67"/>
                </a:solidFill>
                <a:latin typeface="Georgia" pitchFamily="34" charset="0"/>
                <a:ea typeface="Georgia" pitchFamily="34" charset="-122"/>
                <a:cs typeface="Georgia" pitchFamily="34" charset="-120"/>
              </a:rPr>
              <a:t>BALANCE (NRG-GU006)</a:t>
            </a:r>
            <a:endParaRPr lang="en-US" sz="1500" dirty="0"/>
          </a:p>
        </p:txBody>
      </p:sp>
      <p:sp>
        <p:nvSpPr>
          <p:cNvPr id="12" name="Text 10"/>
          <p:cNvSpPr/>
          <p:nvPr/>
        </p:nvSpPr>
        <p:spPr>
          <a:xfrm>
            <a:off x="3794760" y="4681728"/>
            <a:ext cx="7086600" cy="914400"/>
          </a:xfrm>
          <a:prstGeom prst="rect">
            <a:avLst/>
          </a:prstGeom>
          <a:noFill/>
          <a:ln/>
        </p:spPr>
        <p:txBody>
          <a:bodyPr wrap="square" lIns="0" tIns="0" rIns="0" bIns="0" rtlCol="0" anchor="t"/>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Salvage radiotherapy ± apalutamide, stratified by PAM50 subtype. Luminal B: 5-yr bPFS 72% vs 54% (HR 0.45). No benefit in non-luminal B — the first prospectively validated predictive biomarker in prostate cancer.</a:t>
            </a:r>
            <a:endParaRPr lang="en-US" sz="1250" dirty="0"/>
          </a:p>
        </p:txBody>
      </p:sp>
      <p:sp>
        <p:nvSpPr>
          <p:cNvPr id="13" name="Text 11"/>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NRG Oncology</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Urology Times, ASTRO 2025</a:t>
            </a:r>
            <a:endParaRPr lang="en-US" sz="1000" dirty="0"/>
          </a:p>
        </p:txBody>
      </p:sp>
      <p:sp>
        <p:nvSpPr>
          <p:cNvPr id="14" name="Text 12"/>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920240"/>
            <a:ext cx="7315200" cy="365760"/>
          </a:xfrm>
          <a:prstGeom prst="rect">
            <a:avLst/>
          </a:prstGeom>
          <a:noFill/>
          <a:ln/>
        </p:spPr>
        <p:txBody>
          <a:bodyPr wrap="square" lIns="0" tIns="0" rIns="0" bIns="0" rtlCol="0" anchor="ctr"/>
          <a:lstStyle/>
          <a:p>
            <a:pPr indent="0" marL="0">
              <a:buNone/>
            </a:pPr>
            <a:r>
              <a:rPr lang="en-US" sz="1400" b="1" spc="200" kern="0" dirty="0">
                <a:solidFill>
                  <a:srgbClr val="A3690C"/>
                </a:solidFill>
                <a:latin typeface="Calibri" pitchFamily="34" charset="0"/>
                <a:ea typeface="Calibri" pitchFamily="34" charset="-122"/>
                <a:cs typeface="Calibri" pitchFamily="34" charset="-120"/>
              </a:rPr>
              <a:t>QUESTION 4</a:t>
            </a:r>
            <a:endParaRPr lang="en-US" sz="1400" dirty="0"/>
          </a:p>
        </p:txBody>
      </p:sp>
      <p:sp>
        <p:nvSpPr>
          <p:cNvPr id="3" name="Text 1"/>
          <p:cNvSpPr/>
          <p:nvPr/>
        </p:nvSpPr>
        <p:spPr>
          <a:xfrm>
            <a:off x="9052560" y="914400"/>
            <a:ext cx="2560320" cy="2011680"/>
          </a:xfrm>
          <a:prstGeom prst="rect">
            <a:avLst/>
          </a:prstGeom>
          <a:noFill/>
          <a:ln/>
        </p:spPr>
        <p:txBody>
          <a:bodyPr wrap="square" lIns="0" tIns="0" rIns="0" bIns="0" rtlCol="0" anchor="ctr"/>
          <a:lstStyle/>
          <a:p>
            <a:pPr algn="r" indent="0" marL="0">
              <a:buNone/>
            </a:pPr>
            <a:r>
              <a:rPr lang="en-US" sz="11000" b="1" dirty="0">
                <a:solidFill>
                  <a:srgbClr val="23282E"/>
                </a:solidFill>
                <a:latin typeface="Georgia" pitchFamily="34" charset="0"/>
                <a:ea typeface="Georgia" pitchFamily="34" charset="-122"/>
                <a:cs typeface="Georgia" pitchFamily="34" charset="-120"/>
              </a:rPr>
              <a:t>04</a:t>
            </a:r>
            <a:endParaRPr lang="en-US" sz="11000" dirty="0"/>
          </a:p>
        </p:txBody>
      </p:sp>
      <p:sp>
        <p:nvSpPr>
          <p:cNvPr id="4" name="Text 2"/>
          <p:cNvSpPr/>
          <p:nvPr/>
        </p:nvSpPr>
        <p:spPr>
          <a:xfrm>
            <a:off x="822960" y="2331720"/>
            <a:ext cx="9692640" cy="1828800"/>
          </a:xfrm>
          <a:prstGeom prst="rect">
            <a:avLst/>
          </a:prstGeom>
          <a:noFill/>
          <a:ln/>
        </p:spPr>
        <p:txBody>
          <a:bodyPr wrap="square" lIns="0" tIns="0" rIns="0" bIns="0" rtlCol="0" anchor="ctr"/>
          <a:lstStyle/>
          <a:p>
            <a:pPr indent="0" marL="0">
              <a:lnSpc>
                <a:spcPts val="4400"/>
              </a:lnSpc>
              <a:buNone/>
            </a:pPr>
            <a:r>
              <a:rPr lang="en-US" sz="3800" b="1" dirty="0">
                <a:solidFill>
                  <a:srgbClr val="E8E4DB"/>
                </a:solidFill>
                <a:latin typeface="Georgia" pitchFamily="34" charset="0"/>
                <a:ea typeface="Georgia" pitchFamily="34" charset="-122"/>
                <a:cs typeface="Georgia" pitchFamily="34" charset="-120"/>
              </a:rPr>
              <a:t>Can a Machine Learn to Treat the Patient in Front of Us?</a:t>
            </a:r>
            <a:endParaRPr lang="en-US" sz="3800" dirty="0"/>
          </a:p>
        </p:txBody>
      </p:sp>
      <p:sp>
        <p:nvSpPr>
          <p:cNvPr id="5" name="Text 3"/>
          <p:cNvSpPr/>
          <p:nvPr/>
        </p:nvSpPr>
        <p:spPr>
          <a:xfrm>
            <a:off x="822960" y="4160520"/>
            <a:ext cx="8686800" cy="731520"/>
          </a:xfrm>
          <a:prstGeom prst="rect">
            <a:avLst/>
          </a:prstGeom>
          <a:noFill/>
          <a:ln/>
        </p:spPr>
        <p:txBody>
          <a:bodyPr wrap="square" lIns="0" tIns="0" rIns="0" bIns="0" rtlCol="0" anchor="ctr"/>
          <a:lstStyle/>
          <a:p>
            <a:pPr indent="0" marL="0">
              <a:lnSpc>
                <a:spcPts val="2000"/>
              </a:lnSpc>
              <a:buNone/>
            </a:pPr>
            <a:r>
              <a:rPr lang="en-US" sz="1500" i="1" dirty="0">
                <a:solidFill>
                  <a:srgbClr val="9B968C"/>
                </a:solidFill>
                <a:latin typeface="Calibri" pitchFamily="34" charset="0"/>
                <a:ea typeface="Calibri" pitchFamily="34" charset="-122"/>
                <a:cs typeface="Calibri" pitchFamily="34" charset="-120"/>
              </a:rPr>
              <a:t>His laboratory did not stop at hand-curated genomic signatures.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MULTIMODAL AI, TRAINED ON RANDOMIZED EVIDENCE</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Beating PSA and Gleason Score at Their Own Job</a:t>
            </a:r>
            <a:endParaRPr lang="en-US" sz="3000" dirty="0"/>
          </a:p>
        </p:txBody>
      </p:sp>
      <p:sp>
        <p:nvSpPr>
          <p:cNvPr id="4" name="Text 2"/>
          <p:cNvSpPr/>
          <p:nvPr/>
        </p:nvSpPr>
        <p:spPr>
          <a:xfrm>
            <a:off x="548640" y="1965960"/>
            <a:ext cx="10332720" cy="3200400"/>
          </a:xfrm>
          <a:prstGeom prst="rect">
            <a:avLst/>
          </a:prstGeom>
          <a:noFill/>
          <a:ln/>
        </p:spPr>
        <p:txBody>
          <a:bodyPr wrap="square" lIns="0" tIns="0" rIns="0" bIns="0" rtlCol="0" anchor="t"/>
          <a:lstStyle/>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A multimodal deep learning model trained on digitized pathology plus clinical data</a:t>
            </a:r>
            <a:endParaRPr lang="en-US" sz="1650" dirty="0"/>
          </a:p>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Drawn from 5 phase III randomized trials, spanning 10 to 20 years of follow-up</a:t>
            </a:r>
            <a:endParaRPr lang="en-US" sz="1650" dirty="0"/>
          </a:p>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Predicted 5- and 10-year metastasis better than PSA and Gleason score — the two variables that have anchored risk stratification for 40 years</a:t>
            </a:r>
            <a:endParaRPr lang="en-US" sz="1650" dirty="0"/>
          </a:p>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The first classifier of its kind validated across five separate phase III trial populations</a:t>
            </a:r>
            <a:endParaRPr lang="en-US" sz="1650" dirty="0"/>
          </a:p>
        </p:txBody>
      </p:sp>
      <p:sp>
        <p:nvSpPr>
          <p:cNvPr id="5" name="Text 3"/>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Esteva, Feng et al., npj Digital Medicine 2022</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UroToday</a:t>
            </a:r>
            <a:endParaRPr lang="en-US" sz="1000" dirty="0"/>
          </a:p>
        </p:txBody>
      </p:sp>
      <p:sp>
        <p:nvSpPr>
          <p:cNvPr id="6"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A METHODOLOGICAL DISCIPLINE THE FIELD STILL LACKS</a:t>
            </a:r>
            <a:endParaRPr lang="en-US" sz="1200" dirty="0"/>
          </a:p>
        </p:txBody>
      </p:sp>
      <p:sp>
        <p:nvSpPr>
          <p:cNvPr id="3" name="Text 1"/>
          <p:cNvSpPr/>
          <p:nvPr/>
        </p:nvSpPr>
        <p:spPr>
          <a:xfrm>
            <a:off x="822960" y="1737360"/>
            <a:ext cx="9692640" cy="1463040"/>
          </a:xfrm>
          <a:prstGeom prst="rect">
            <a:avLst/>
          </a:prstGeom>
          <a:noFill/>
          <a:ln/>
        </p:spPr>
        <p:txBody>
          <a:bodyPr wrap="square" lIns="0" tIns="0" rIns="0" bIns="0" rtlCol="0" anchor="ctr"/>
          <a:lstStyle/>
          <a:p>
            <a:pPr indent="0" marL="0">
              <a:lnSpc>
                <a:spcPts val="4000"/>
              </a:lnSpc>
              <a:buNone/>
            </a:pPr>
            <a:r>
              <a:rPr lang="en-US" sz="3200" b="1" i="1" dirty="0">
                <a:solidFill>
                  <a:srgbClr val="201D18"/>
                </a:solidFill>
                <a:latin typeface="Georgia" pitchFamily="34" charset="0"/>
                <a:ea typeface="Georgia" pitchFamily="34" charset="-122"/>
                <a:cs typeface="Georgia" pitchFamily="34" charset="-120"/>
              </a:rPr>
              <a:t>“The most valuable data sets out there are phase III clinical trials.”</a:t>
            </a:r>
            <a:endParaRPr lang="en-US" sz="3200" dirty="0"/>
          </a:p>
        </p:txBody>
      </p:sp>
      <p:sp>
        <p:nvSpPr>
          <p:cNvPr id="4" name="Text 2"/>
          <p:cNvSpPr/>
          <p:nvPr/>
        </p:nvSpPr>
        <p:spPr>
          <a:xfrm>
            <a:off x="822960" y="3246120"/>
            <a:ext cx="9326880" cy="1463040"/>
          </a:xfrm>
          <a:prstGeom prst="rect">
            <a:avLst/>
          </a:prstGeom>
          <a:noFill/>
          <a:ln/>
        </p:spPr>
        <p:txBody>
          <a:bodyPr wrap="square" lIns="0" tIns="0" rIns="0" bIns="0" rtlCol="0" anchor="ctr"/>
          <a:lstStyle/>
          <a:p>
            <a:pPr indent="0" marL="0">
              <a:lnSpc>
                <a:spcPts val="2200"/>
              </a:lnSpc>
              <a:buNone/>
            </a:pPr>
            <a:r>
              <a:rPr lang="en-US" sz="1600" dirty="0">
                <a:solidFill>
                  <a:srgbClr val="201D18"/>
                </a:solidFill>
                <a:latin typeface="Calibri" pitchFamily="34" charset="0"/>
                <a:ea typeface="Calibri" pitchFamily="34" charset="-122"/>
                <a:cs typeface="Calibri" pitchFamily="34" charset="-120"/>
              </a:rPr>
              <a:t>Randomization makes trial outcomes believable in a way retrospective cohorts are not. And pathology slides prepared decades ago are prepared essentially the same way slides are prepared today — so archival trial material can be digitized and mined without becoming obsolete.</a:t>
            </a:r>
            <a:endParaRPr lang="en-US" sz="1600" dirty="0"/>
          </a:p>
        </p:txBody>
      </p:sp>
      <p:sp>
        <p:nvSpPr>
          <p:cNvPr id="5" name="Shape 3"/>
          <p:cNvSpPr/>
          <p:nvPr/>
        </p:nvSpPr>
        <p:spPr>
          <a:xfrm>
            <a:off x="822960" y="4937760"/>
            <a:ext cx="822960" cy="0"/>
          </a:xfrm>
          <a:prstGeom prst="line">
            <a:avLst/>
          </a:prstGeom>
          <a:noFill/>
          <a:ln w="25400">
            <a:solidFill>
              <a:srgbClr val="A3690C"/>
            </a:solidFill>
            <a:prstDash val="solid"/>
          </a:ln>
        </p:spPr>
      </p:sp>
      <p:sp>
        <p:nvSpPr>
          <p:cNvPr id="6" name="Text 4"/>
          <p:cNvSpPr/>
          <p:nvPr/>
        </p:nvSpPr>
        <p:spPr>
          <a:xfrm>
            <a:off x="822960" y="5074920"/>
            <a:ext cx="7315200" cy="365760"/>
          </a:xfrm>
          <a:prstGeom prst="rect">
            <a:avLst/>
          </a:prstGeom>
          <a:noFill/>
          <a:ln/>
        </p:spPr>
        <p:txBody>
          <a:bodyPr wrap="square" lIns="0" tIns="0" rIns="0" bIns="0" rtlCol="0" anchor="ctr"/>
          <a:lstStyle/>
          <a:p>
            <a:pPr indent="0" marL="0">
              <a:buNone/>
            </a:pPr>
            <a:r>
              <a:rPr lang="en-US" sz="1400" b="1" dirty="0">
                <a:solidFill>
                  <a:srgbClr val="A3690C"/>
                </a:solidFill>
                <a:latin typeface="Calibri" pitchFamily="34" charset="0"/>
                <a:ea typeface="Calibri" pitchFamily="34" charset="-122"/>
                <a:cs typeface="Calibri" pitchFamily="34" charset="-120"/>
              </a:rPr>
              <a:t>Felix Feng, MD</a:t>
            </a:r>
            <a:endParaRPr lang="en-US" sz="1400" dirty="0"/>
          </a:p>
        </p:txBody>
      </p:sp>
      <p:sp>
        <p:nvSpPr>
          <p:cNvPr id="7" name="Text 5"/>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UroToday, Nov 2022</a:t>
            </a:r>
            <a:endParaRPr lang="en-US" sz="1000" dirty="0"/>
          </a:p>
        </p:txBody>
      </p:sp>
      <p:sp>
        <p:nvSpPr>
          <p:cNvPr id="8" name="Text 6"/>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HEALTH EQUITY IS NOT AN ADD-ON</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It Is a Technical Precondition for Good Machine Learning</a:t>
            </a:r>
            <a:endParaRPr lang="en-US" sz="3000" dirty="0"/>
          </a:p>
        </p:txBody>
      </p:sp>
      <p:sp>
        <p:nvSpPr>
          <p:cNvPr id="4" name="Text 2"/>
          <p:cNvSpPr/>
          <p:nvPr/>
        </p:nvSpPr>
        <p:spPr>
          <a:xfrm>
            <a:off x="548640" y="1965960"/>
            <a:ext cx="6492240" cy="3200400"/>
          </a:xfrm>
          <a:prstGeom prst="rect">
            <a:avLst/>
          </a:prstGeom>
          <a:noFill/>
          <a:ln/>
        </p:spPr>
        <p:txBody>
          <a:bodyPr wrap="square" lIns="0" tIns="0" rIns="0" bIns="0" rtlCol="0" anchor="t"/>
          <a:lstStyle/>
          <a:p>
            <a:pPr marL="177800" indent="-177800">
              <a:lnSpc>
                <a:spcPts val="2000"/>
              </a:lnSpc>
              <a:spcAft>
                <a:spcPts val="1400"/>
              </a:spcAft>
              <a:buSzPct val="100000"/>
              <a:buChar char="▪"/>
            </a:pPr>
            <a:r>
              <a:rPr lang="en-US" sz="1550" dirty="0">
                <a:solidFill>
                  <a:srgbClr val="201D18"/>
                </a:solidFill>
                <a:latin typeface="Calibri" pitchFamily="34" charset="0"/>
                <a:ea typeface="Calibri" pitchFamily="34" charset="-122"/>
                <a:cs typeface="Calibri" pitchFamily="34" charset="-120"/>
              </a:rPr>
              <a:t>An AI tool works primarily in the populations it was built from</a:t>
            </a:r>
            <a:endParaRPr lang="en-US" sz="1550" dirty="0"/>
          </a:p>
          <a:p>
            <a:pPr marL="177800" indent="-177800">
              <a:lnSpc>
                <a:spcPts val="2000"/>
              </a:lnSpc>
              <a:spcAft>
                <a:spcPts val="1400"/>
              </a:spcAft>
              <a:buSzPct val="100000"/>
              <a:buChar char="▪"/>
            </a:pPr>
            <a:r>
              <a:rPr lang="en-US" sz="1550" dirty="0">
                <a:solidFill>
                  <a:srgbClr val="201D18"/>
                </a:solidFill>
                <a:latin typeface="Calibri" pitchFamily="34" charset="0"/>
                <a:ea typeface="Calibri" pitchFamily="34" charset="-122"/>
                <a:cs typeface="Calibri" pitchFamily="34" charset="-120"/>
              </a:rPr>
              <a:t>Despite years of genomic testing in prostate cancer, testing rates in African American men remained strikingly low relative to their share of the disease burden</a:t>
            </a:r>
            <a:endParaRPr lang="en-US" sz="1550" dirty="0"/>
          </a:p>
          <a:p>
            <a:pPr marL="177800" indent="-177800">
              <a:lnSpc>
                <a:spcPts val="2000"/>
              </a:lnSpc>
              <a:spcAft>
                <a:spcPts val="1400"/>
              </a:spcAft>
              <a:buSzPct val="100000"/>
              <a:buChar char="▪"/>
            </a:pPr>
            <a:r>
              <a:rPr lang="en-US" sz="1550" dirty="0">
                <a:solidFill>
                  <a:srgbClr val="201D18"/>
                </a:solidFill>
                <a:latin typeface="Calibri" pitchFamily="34" charset="0"/>
                <a:ea typeface="Calibri" pitchFamily="34" charset="-122"/>
                <a:cs typeface="Calibri" pitchFamily="34" charset="-120"/>
              </a:rPr>
              <a:t>His team built classifiers on cohorts roughly 20% African American, validated in matched populations</a:t>
            </a:r>
            <a:endParaRPr lang="en-US" sz="1550" dirty="0"/>
          </a:p>
          <a:p>
            <a:pPr marL="177800" indent="-177800">
              <a:lnSpc>
                <a:spcPts val="2000"/>
              </a:lnSpc>
              <a:spcAft>
                <a:spcPts val="1400"/>
              </a:spcAft>
              <a:buSzPct val="100000"/>
              <a:buChar char="▪"/>
            </a:pPr>
            <a:r>
              <a:rPr lang="en-US" sz="1550" dirty="0">
                <a:solidFill>
                  <a:srgbClr val="201D18"/>
                </a:solidFill>
                <a:latin typeface="Calibri" pitchFamily="34" charset="0"/>
                <a:ea typeface="Calibri" pitchFamily="34" charset="-122"/>
                <a:cs typeface="Calibri" pitchFamily="34" charset="-120"/>
              </a:rPr>
              <a:t>The resulting tool performed equally well across groups</a:t>
            </a:r>
            <a:endParaRPr lang="en-US" sz="1550" dirty="0"/>
          </a:p>
        </p:txBody>
      </p:sp>
      <p:sp>
        <p:nvSpPr>
          <p:cNvPr id="5" name="Shape 3"/>
          <p:cNvSpPr/>
          <p:nvPr/>
        </p:nvSpPr>
        <p:spPr>
          <a:xfrm>
            <a:off x="7406640" y="1965960"/>
            <a:ext cx="4206240" cy="3566160"/>
          </a:xfrm>
          <a:prstGeom prst="rect">
            <a:avLst/>
          </a:prstGeom>
          <a:solidFill>
            <a:srgbClr val="0F6E67"/>
          </a:solidFill>
          <a:ln/>
        </p:spPr>
      </p:sp>
      <p:sp>
        <p:nvSpPr>
          <p:cNvPr id="6" name="Text 4"/>
          <p:cNvSpPr/>
          <p:nvPr/>
        </p:nvSpPr>
        <p:spPr>
          <a:xfrm>
            <a:off x="7726680" y="2286000"/>
            <a:ext cx="3566160" cy="2194560"/>
          </a:xfrm>
          <a:prstGeom prst="rect">
            <a:avLst/>
          </a:prstGeom>
          <a:noFill/>
          <a:ln/>
        </p:spPr>
        <p:txBody>
          <a:bodyPr wrap="square" lIns="0" tIns="0" rIns="0" bIns="0" rtlCol="0" anchor="ctr"/>
          <a:lstStyle/>
          <a:p>
            <a:pPr indent="0" marL="0">
              <a:lnSpc>
                <a:spcPts val="2400"/>
              </a:lnSpc>
              <a:buNone/>
            </a:pPr>
            <a:r>
              <a:rPr lang="en-US" sz="1800" b="1" i="1" dirty="0">
                <a:solidFill>
                  <a:srgbClr val="FFFFFF"/>
                </a:solidFill>
                <a:latin typeface="Georgia" pitchFamily="34" charset="0"/>
                <a:ea typeface="Georgia" pitchFamily="34" charset="-122"/>
                <a:cs typeface="Georgia" pitchFamily="34" charset="-120"/>
              </a:rPr>
              <a:t>“The more inclusive the data set used to build the classifier, the better it will perform.”</a:t>
            </a:r>
            <a:endParaRPr lang="en-US" sz="1800" dirty="0"/>
          </a:p>
        </p:txBody>
      </p:sp>
      <p:sp>
        <p:nvSpPr>
          <p:cNvPr id="7" name="Text 5"/>
          <p:cNvSpPr/>
          <p:nvPr/>
        </p:nvSpPr>
        <p:spPr>
          <a:xfrm>
            <a:off x="7726680" y="4709160"/>
            <a:ext cx="3566160" cy="365760"/>
          </a:xfrm>
          <a:prstGeom prst="rect">
            <a:avLst/>
          </a:prstGeom>
          <a:noFill/>
          <a:ln/>
        </p:spPr>
        <p:txBody>
          <a:bodyPr wrap="square" lIns="0" tIns="0" rIns="0" bIns="0" rtlCol="0" anchor="ctr"/>
          <a:lstStyle/>
          <a:p>
            <a:pPr indent="0" marL="0">
              <a:buNone/>
            </a:pPr>
            <a:r>
              <a:rPr lang="en-US" sz="1200" b="1" dirty="0">
                <a:solidFill>
                  <a:srgbClr val="DDEFEC"/>
                </a:solidFill>
                <a:latin typeface="Calibri" pitchFamily="34" charset="0"/>
                <a:ea typeface="Calibri" pitchFamily="34" charset="-122"/>
                <a:cs typeface="Calibri" pitchFamily="34" charset="-120"/>
              </a:rPr>
              <a:t>— Felix Feng, MD</a:t>
            </a:r>
            <a:endParaRPr lang="en-US" sz="1200" dirty="0"/>
          </a:p>
        </p:txBody>
      </p:sp>
      <p:sp>
        <p:nvSpPr>
          <p:cNvPr id="8" name="Text 6"/>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UroToday, Nov 2022</a:t>
            </a:r>
            <a:endParaRPr lang="en-US" sz="1000" dirty="0"/>
          </a:p>
        </p:txBody>
      </p:sp>
      <p:sp>
        <p:nvSpPr>
          <p:cNvPr id="9" name="Text 7"/>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920240"/>
            <a:ext cx="7315200" cy="365760"/>
          </a:xfrm>
          <a:prstGeom prst="rect">
            <a:avLst/>
          </a:prstGeom>
          <a:noFill/>
          <a:ln/>
        </p:spPr>
        <p:txBody>
          <a:bodyPr wrap="square" lIns="0" tIns="0" rIns="0" bIns="0" rtlCol="0" anchor="ctr"/>
          <a:lstStyle/>
          <a:p>
            <a:pPr indent="0" marL="0">
              <a:buNone/>
            </a:pPr>
            <a:r>
              <a:rPr lang="en-US" sz="1400" b="1" spc="200" kern="0" dirty="0">
                <a:solidFill>
                  <a:srgbClr val="A3690C"/>
                </a:solidFill>
                <a:latin typeface="Calibri" pitchFamily="34" charset="0"/>
                <a:ea typeface="Calibri" pitchFamily="34" charset="-122"/>
                <a:cs typeface="Calibri" pitchFamily="34" charset="-120"/>
              </a:rPr>
              <a:t>QUESTION 5</a:t>
            </a:r>
            <a:endParaRPr lang="en-US" sz="1400" dirty="0"/>
          </a:p>
        </p:txBody>
      </p:sp>
      <p:sp>
        <p:nvSpPr>
          <p:cNvPr id="3" name="Text 1"/>
          <p:cNvSpPr/>
          <p:nvPr/>
        </p:nvSpPr>
        <p:spPr>
          <a:xfrm>
            <a:off x="9052560" y="914400"/>
            <a:ext cx="2560320" cy="2011680"/>
          </a:xfrm>
          <a:prstGeom prst="rect">
            <a:avLst/>
          </a:prstGeom>
          <a:noFill/>
          <a:ln/>
        </p:spPr>
        <p:txBody>
          <a:bodyPr wrap="square" lIns="0" tIns="0" rIns="0" bIns="0" rtlCol="0" anchor="ctr"/>
          <a:lstStyle/>
          <a:p>
            <a:pPr algn="r" indent="0" marL="0">
              <a:buNone/>
            </a:pPr>
            <a:r>
              <a:rPr lang="en-US" sz="11000" b="1" dirty="0">
                <a:solidFill>
                  <a:srgbClr val="23282E"/>
                </a:solidFill>
                <a:latin typeface="Georgia" pitchFamily="34" charset="0"/>
                <a:ea typeface="Georgia" pitchFamily="34" charset="-122"/>
                <a:cs typeface="Georgia" pitchFamily="34" charset="-120"/>
              </a:rPr>
              <a:t>05</a:t>
            </a:r>
            <a:endParaRPr lang="en-US" sz="11000" dirty="0"/>
          </a:p>
        </p:txBody>
      </p:sp>
      <p:sp>
        <p:nvSpPr>
          <p:cNvPr id="4" name="Text 2"/>
          <p:cNvSpPr/>
          <p:nvPr/>
        </p:nvSpPr>
        <p:spPr>
          <a:xfrm>
            <a:off x="822960" y="2331720"/>
            <a:ext cx="9692640" cy="1828800"/>
          </a:xfrm>
          <a:prstGeom prst="rect">
            <a:avLst/>
          </a:prstGeom>
          <a:noFill/>
          <a:ln/>
        </p:spPr>
        <p:txBody>
          <a:bodyPr wrap="square" lIns="0" tIns="0" rIns="0" bIns="0" rtlCol="0" anchor="ctr"/>
          <a:lstStyle/>
          <a:p>
            <a:pPr indent="0" marL="0">
              <a:lnSpc>
                <a:spcPts val="4400"/>
              </a:lnSpc>
              <a:buNone/>
            </a:pPr>
            <a:r>
              <a:rPr lang="en-US" sz="3800" b="1" dirty="0">
                <a:solidFill>
                  <a:srgbClr val="E8E4DB"/>
                </a:solidFill>
                <a:latin typeface="Georgia" pitchFamily="34" charset="0"/>
                <a:ea typeface="Georgia" pitchFamily="34" charset="-122"/>
                <a:cs typeface="Georgia" pitchFamily="34" charset="-120"/>
              </a:rPr>
              <a:t>Does the Science Outlive the Scientist?</a:t>
            </a:r>
            <a:endParaRPr lang="en-US" sz="3800" dirty="0"/>
          </a:p>
        </p:txBody>
      </p:sp>
      <p:sp>
        <p:nvSpPr>
          <p:cNvPr id="5" name="Text 3"/>
          <p:cNvSpPr/>
          <p:nvPr/>
        </p:nvSpPr>
        <p:spPr>
          <a:xfrm>
            <a:off x="822960" y="4160520"/>
            <a:ext cx="8686800" cy="731520"/>
          </a:xfrm>
          <a:prstGeom prst="rect">
            <a:avLst/>
          </a:prstGeom>
          <a:noFill/>
          <a:ln/>
        </p:spPr>
        <p:txBody>
          <a:bodyPr wrap="square" lIns="0" tIns="0" rIns="0" bIns="0" rtlCol="0" anchor="ctr"/>
          <a:lstStyle/>
          <a:p>
            <a:pPr indent="0" marL="0">
              <a:lnSpc>
                <a:spcPts val="2000"/>
              </a:lnSpc>
              <a:buNone/>
            </a:pPr>
            <a:r>
              <a:rPr lang="en-US" sz="1500" i="1" dirty="0">
                <a:solidFill>
                  <a:srgbClr val="9B968C"/>
                </a:solidFill>
                <a:latin typeface="Calibri" pitchFamily="34" charset="0"/>
                <a:ea typeface="Calibri" pitchFamily="34" charset="-122"/>
                <a:cs typeface="Calibri" pitchFamily="34" charset="-120"/>
              </a:rPr>
              <a:t>Every obituary I read about Felix Feng mentioned his publication count. Almost none led with it.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TURNING DISCOVERY INTO INFRASTRUCTURE</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Two Companies, Two Fates</a:t>
            </a:r>
            <a:endParaRPr lang="en-US" sz="3000" dirty="0"/>
          </a:p>
        </p:txBody>
      </p:sp>
      <p:sp>
        <p:nvSpPr>
          <p:cNvPr id="4" name="Shape 2"/>
          <p:cNvSpPr/>
          <p:nvPr/>
        </p:nvSpPr>
        <p:spPr>
          <a:xfrm>
            <a:off x="548640" y="1874520"/>
            <a:ext cx="5120640" cy="3474720"/>
          </a:xfrm>
          <a:prstGeom prst="rect">
            <a:avLst/>
          </a:prstGeom>
          <a:solidFill>
            <a:srgbClr val="FFFFFF"/>
          </a:solidFill>
          <a:ln w="12700">
            <a:solidFill>
              <a:srgbClr val="E2DDD2"/>
            </a:solidFill>
            <a:prstDash val="solid"/>
          </a:ln>
        </p:spPr>
      </p:sp>
      <p:sp>
        <p:nvSpPr>
          <p:cNvPr id="5" name="Text 3"/>
          <p:cNvSpPr/>
          <p:nvPr/>
        </p:nvSpPr>
        <p:spPr>
          <a:xfrm>
            <a:off x="868680" y="2103120"/>
            <a:ext cx="4480560" cy="457200"/>
          </a:xfrm>
          <a:prstGeom prst="rect">
            <a:avLst/>
          </a:prstGeom>
          <a:noFill/>
          <a:ln/>
        </p:spPr>
        <p:txBody>
          <a:bodyPr wrap="square" lIns="0" tIns="0" rIns="0" bIns="0" rtlCol="0" anchor="ctr"/>
          <a:lstStyle/>
          <a:p>
            <a:pPr indent="0" marL="0">
              <a:buNone/>
            </a:pPr>
            <a:r>
              <a:rPr lang="en-US" sz="2200" b="1" dirty="0">
                <a:solidFill>
                  <a:srgbClr val="201D18"/>
                </a:solidFill>
                <a:latin typeface="Georgia" pitchFamily="34" charset="0"/>
                <a:ea typeface="Georgia" pitchFamily="34" charset="-122"/>
                <a:cs typeface="Georgia" pitchFamily="34" charset="-120"/>
              </a:rPr>
              <a:t>PFS Genomics</a:t>
            </a:r>
            <a:endParaRPr lang="en-US" sz="2200" dirty="0"/>
          </a:p>
        </p:txBody>
      </p:sp>
      <p:sp>
        <p:nvSpPr>
          <p:cNvPr id="6" name="Text 4"/>
          <p:cNvSpPr/>
          <p:nvPr/>
        </p:nvSpPr>
        <p:spPr>
          <a:xfrm>
            <a:off x="868680" y="2578608"/>
            <a:ext cx="4480560" cy="320040"/>
          </a:xfrm>
          <a:prstGeom prst="rect">
            <a:avLst/>
          </a:prstGeom>
          <a:noFill/>
          <a:ln/>
        </p:spPr>
        <p:txBody>
          <a:bodyPr wrap="square" lIns="0" tIns="0" rIns="0" bIns="0" rtlCol="0" anchor="ctr"/>
          <a:lstStyle/>
          <a:p>
            <a:pPr indent="0" marL="0">
              <a:buNone/>
            </a:pPr>
            <a:r>
              <a:rPr lang="en-US" sz="1100" b="1" spc="100" kern="0" dirty="0">
                <a:solidFill>
                  <a:srgbClr val="6B6860"/>
                </a:solidFill>
                <a:latin typeface="Calibri" pitchFamily="34" charset="0"/>
                <a:ea typeface="Calibri" pitchFamily="34" charset="-122"/>
                <a:cs typeface="Calibri" pitchFamily="34" charset="-120"/>
              </a:rPr>
              <a:t>ACQUIRED, 2021</a:t>
            </a:r>
            <a:endParaRPr lang="en-US" sz="1100" dirty="0"/>
          </a:p>
        </p:txBody>
      </p:sp>
      <p:sp>
        <p:nvSpPr>
          <p:cNvPr id="7" name="Text 5"/>
          <p:cNvSpPr/>
          <p:nvPr/>
        </p:nvSpPr>
        <p:spPr>
          <a:xfrm>
            <a:off x="868680" y="3017520"/>
            <a:ext cx="4480560" cy="2103120"/>
          </a:xfrm>
          <a:prstGeom prst="rect">
            <a:avLst/>
          </a:prstGeom>
          <a:noFill/>
          <a:ln/>
        </p:spPr>
        <p:txBody>
          <a:bodyPr wrap="square" lIns="0" tIns="0" rIns="0" bIns="0" rtlCol="0" anchor="ctr"/>
          <a:lstStyle/>
          <a:p>
            <a:pPr indent="0" marL="0">
              <a:lnSpc>
                <a:spcPts val="2000"/>
              </a:lnSpc>
              <a:buNone/>
            </a:pPr>
            <a:r>
              <a:rPr lang="en-US" sz="1400" dirty="0">
                <a:solidFill>
                  <a:srgbClr val="201D18"/>
                </a:solidFill>
                <a:latin typeface="Calibri" pitchFamily="34" charset="0"/>
                <a:ea typeface="Calibri" pitchFamily="34" charset="-122"/>
                <a:cs typeface="Calibri" pitchFamily="34" charset="-120"/>
              </a:rPr>
              <a:t>Molecular diagnostics company Feng co-founded, focused on breast cancer. Acquired by Exact Sciences for approximately $30.6 million.</a:t>
            </a:r>
            <a:endParaRPr lang="en-US" sz="1400" dirty="0"/>
          </a:p>
        </p:txBody>
      </p:sp>
      <p:sp>
        <p:nvSpPr>
          <p:cNvPr id="8" name="Shape 6"/>
          <p:cNvSpPr/>
          <p:nvPr/>
        </p:nvSpPr>
        <p:spPr>
          <a:xfrm>
            <a:off x="6035040" y="1874520"/>
            <a:ext cx="5120640" cy="3474720"/>
          </a:xfrm>
          <a:prstGeom prst="rect">
            <a:avLst/>
          </a:prstGeom>
          <a:solidFill>
            <a:srgbClr val="FFFFFF"/>
          </a:solidFill>
          <a:ln w="12700">
            <a:solidFill>
              <a:srgbClr val="E2DDD2"/>
            </a:solidFill>
            <a:prstDash val="solid"/>
          </a:ln>
        </p:spPr>
      </p:sp>
      <p:sp>
        <p:nvSpPr>
          <p:cNvPr id="9" name="Text 7"/>
          <p:cNvSpPr/>
          <p:nvPr/>
        </p:nvSpPr>
        <p:spPr>
          <a:xfrm>
            <a:off x="6355080" y="2103120"/>
            <a:ext cx="4480560" cy="457200"/>
          </a:xfrm>
          <a:prstGeom prst="rect">
            <a:avLst/>
          </a:prstGeom>
          <a:noFill/>
          <a:ln/>
        </p:spPr>
        <p:txBody>
          <a:bodyPr wrap="square" lIns="0" tIns="0" rIns="0" bIns="0" rtlCol="0" anchor="ctr"/>
          <a:lstStyle/>
          <a:p>
            <a:pPr indent="0" marL="0">
              <a:buNone/>
            </a:pPr>
            <a:r>
              <a:rPr lang="en-US" sz="2200" b="1" dirty="0">
                <a:solidFill>
                  <a:srgbClr val="201D18"/>
                </a:solidFill>
                <a:latin typeface="Georgia" pitchFamily="34" charset="0"/>
                <a:ea typeface="Georgia" pitchFamily="34" charset="-122"/>
                <a:cs typeface="Georgia" pitchFamily="34" charset="-120"/>
              </a:rPr>
              <a:t>Artera (ArteraAI)</a:t>
            </a:r>
            <a:endParaRPr lang="en-US" sz="2200" dirty="0"/>
          </a:p>
        </p:txBody>
      </p:sp>
      <p:sp>
        <p:nvSpPr>
          <p:cNvPr id="10" name="Text 8"/>
          <p:cNvSpPr/>
          <p:nvPr/>
        </p:nvSpPr>
        <p:spPr>
          <a:xfrm>
            <a:off x="6355080" y="2578608"/>
            <a:ext cx="4480560" cy="320040"/>
          </a:xfrm>
          <a:prstGeom prst="rect">
            <a:avLst/>
          </a:prstGeom>
          <a:noFill/>
          <a:ln/>
        </p:spPr>
        <p:txBody>
          <a:bodyPr wrap="square" lIns="0" tIns="0" rIns="0" bIns="0" rtlCol="0" anchor="ctr"/>
          <a:lstStyle/>
          <a:p>
            <a:pPr indent="0" marL="0">
              <a:buNone/>
            </a:pPr>
            <a:r>
              <a:rPr lang="en-US" sz="1100" b="1" spc="100" kern="0" dirty="0">
                <a:solidFill>
                  <a:srgbClr val="A3690C"/>
                </a:solidFill>
                <a:latin typeface="Calibri" pitchFamily="34" charset="0"/>
                <a:ea typeface="Calibri" pitchFamily="34" charset="-122"/>
                <a:cs typeface="Calibri" pitchFamily="34" charset="-120"/>
              </a:rPr>
              <a:t>ACTIVE</a:t>
            </a:r>
            <a:endParaRPr lang="en-US" sz="1100" dirty="0"/>
          </a:p>
        </p:txBody>
      </p:sp>
      <p:sp>
        <p:nvSpPr>
          <p:cNvPr id="11" name="Text 9"/>
          <p:cNvSpPr/>
          <p:nvPr/>
        </p:nvSpPr>
        <p:spPr>
          <a:xfrm>
            <a:off x="6355080" y="3017520"/>
            <a:ext cx="4480560" cy="2103120"/>
          </a:xfrm>
          <a:prstGeom prst="rect">
            <a:avLst/>
          </a:prstGeom>
          <a:noFill/>
          <a:ln/>
        </p:spPr>
        <p:txBody>
          <a:bodyPr wrap="square" lIns="0" tIns="0" rIns="0" bIns="0" rtlCol="0" anchor="ctr"/>
          <a:lstStyle/>
          <a:p>
            <a:pPr indent="0" marL="0">
              <a:lnSpc>
                <a:spcPts val="2000"/>
              </a:lnSpc>
              <a:buNone/>
            </a:pPr>
            <a:r>
              <a:rPr lang="en-US" sz="1400" dirty="0">
                <a:solidFill>
                  <a:srgbClr val="201D18"/>
                </a:solidFill>
                <a:latin typeface="Calibri" pitchFamily="34" charset="0"/>
                <a:ea typeface="Calibri" pitchFamily="34" charset="-122"/>
                <a:cs typeface="Calibri" pitchFamily="34" charset="-120"/>
              </a:rPr>
              <a:t>Co-founded with Andre Esteva to build multimodal AI prognostic classifiers. Its prostate cancer test is now included in the NCCN guidelines.</a:t>
            </a:r>
            <a:endParaRPr lang="en-US" sz="1400" dirty="0"/>
          </a:p>
        </p:txBody>
      </p:sp>
      <p:sp>
        <p:nvSpPr>
          <p:cNvPr id="12" name="Text 10"/>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GenomeWeb</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Artera</a:t>
            </a:r>
            <a:endParaRPr lang="en-US" sz="1000" dirty="0"/>
          </a:p>
        </p:txBody>
      </p:sp>
      <p:sp>
        <p:nvSpPr>
          <p:cNvPr id="13"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HONORS THAT BECAME INSTITUTIONS</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His Name, Attached to What Comes Next</a:t>
            </a:r>
            <a:endParaRPr lang="en-US" sz="3000" dirty="0"/>
          </a:p>
        </p:txBody>
      </p:sp>
      <p:sp>
        <p:nvSpPr>
          <p:cNvPr id="4" name="Text 2"/>
          <p:cNvSpPr/>
          <p:nvPr/>
        </p:nvSpPr>
        <p:spPr>
          <a:xfrm>
            <a:off x="548640" y="1920240"/>
            <a:ext cx="10332720" cy="384048"/>
          </a:xfrm>
          <a:prstGeom prst="rect">
            <a:avLst/>
          </a:prstGeom>
          <a:noFill/>
          <a:ln/>
        </p:spPr>
        <p:txBody>
          <a:bodyPr wrap="square" lIns="0" tIns="0" rIns="0" bIns="0" rtlCol="0" anchor="ctr"/>
          <a:lstStyle/>
          <a:p>
            <a:pPr indent="0" marL="0">
              <a:buNone/>
            </a:pPr>
            <a:r>
              <a:rPr lang="en-US" sz="1600" b="1" dirty="0">
                <a:solidFill>
                  <a:srgbClr val="201D18"/>
                </a:solidFill>
                <a:latin typeface="Calibri" pitchFamily="34" charset="0"/>
                <a:ea typeface="Calibri" pitchFamily="34" charset="-122"/>
                <a:cs typeface="Calibri" pitchFamily="34" charset="-120"/>
              </a:rPr>
              <a:t>ACS–ASTRO Felix Feng, MD Clinician Scientist Development Grant</a:t>
            </a:r>
            <a:endParaRPr lang="en-US" sz="1600" dirty="0"/>
          </a:p>
        </p:txBody>
      </p:sp>
      <p:sp>
        <p:nvSpPr>
          <p:cNvPr id="5" name="Text 3"/>
          <p:cNvSpPr/>
          <p:nvPr/>
        </p:nvSpPr>
        <p:spPr>
          <a:xfrm>
            <a:off x="548640" y="2286000"/>
            <a:ext cx="10332720" cy="365760"/>
          </a:xfrm>
          <a:prstGeom prst="rect">
            <a:avLst/>
          </a:prstGeom>
          <a:noFill/>
          <a:ln/>
        </p:spPr>
        <p:txBody>
          <a:bodyPr wrap="square" lIns="0" tIns="0" rIns="0" bIns="0" rtlCol="0" anchor="ctr"/>
          <a:lstStyle/>
          <a:p>
            <a:pPr indent="0" marL="0">
              <a:buNone/>
            </a:pPr>
            <a:r>
              <a:rPr lang="en-US" sz="1250" dirty="0">
                <a:solidFill>
                  <a:srgbClr val="6B6860"/>
                </a:solidFill>
                <a:latin typeface="Calibri" pitchFamily="34" charset="0"/>
                <a:ea typeface="Calibri" pitchFamily="34" charset="-122"/>
                <a:cs typeface="Calibri" pitchFamily="34" charset="-120"/>
              </a:rPr>
              <a:t>$729,000 over 3–5 years, established after 100+ researchers met to honor his career</a:t>
            </a:r>
            <a:endParaRPr lang="en-US" sz="1250" dirty="0"/>
          </a:p>
        </p:txBody>
      </p:sp>
      <p:sp>
        <p:nvSpPr>
          <p:cNvPr id="6" name="Text 4"/>
          <p:cNvSpPr/>
          <p:nvPr/>
        </p:nvSpPr>
        <p:spPr>
          <a:xfrm>
            <a:off x="548640" y="2816352"/>
            <a:ext cx="10332720" cy="384048"/>
          </a:xfrm>
          <a:prstGeom prst="rect">
            <a:avLst/>
          </a:prstGeom>
          <a:noFill/>
          <a:ln/>
        </p:spPr>
        <p:txBody>
          <a:bodyPr wrap="square" lIns="0" tIns="0" rIns="0" bIns="0" rtlCol="0" anchor="ctr"/>
          <a:lstStyle/>
          <a:p>
            <a:pPr indent="0" marL="0">
              <a:buNone/>
            </a:pPr>
            <a:r>
              <a:rPr lang="en-US" sz="1600" b="1" dirty="0">
                <a:solidFill>
                  <a:srgbClr val="201D18"/>
                </a:solidFill>
                <a:latin typeface="Calibri" pitchFamily="34" charset="0"/>
                <a:ea typeface="Calibri" pitchFamily="34" charset="-122"/>
                <a:cs typeface="Calibri" pitchFamily="34" charset="-120"/>
              </a:rPr>
              <a:t>ASCO / Conquer Cancer Felix Feng Prostate Cancer Young Investigator Award</a:t>
            </a:r>
            <a:endParaRPr lang="en-US" sz="1600" dirty="0"/>
          </a:p>
        </p:txBody>
      </p:sp>
      <p:sp>
        <p:nvSpPr>
          <p:cNvPr id="7" name="Text 5"/>
          <p:cNvSpPr/>
          <p:nvPr/>
        </p:nvSpPr>
        <p:spPr>
          <a:xfrm>
            <a:off x="548640" y="3182112"/>
            <a:ext cx="10332720" cy="365760"/>
          </a:xfrm>
          <a:prstGeom prst="rect">
            <a:avLst/>
          </a:prstGeom>
          <a:noFill/>
          <a:ln/>
        </p:spPr>
        <p:txBody>
          <a:bodyPr wrap="square" lIns="0" tIns="0" rIns="0" bIns="0" rtlCol="0" anchor="ctr"/>
          <a:lstStyle/>
          <a:p>
            <a:pPr indent="0" marL="0">
              <a:buNone/>
            </a:pPr>
            <a:r>
              <a:rPr lang="en-US" sz="1250" dirty="0">
                <a:solidFill>
                  <a:srgbClr val="6B6860"/>
                </a:solidFill>
                <a:latin typeface="Calibri" pitchFamily="34" charset="0"/>
                <a:ea typeface="Calibri" pitchFamily="34" charset="-122"/>
                <a:cs typeface="Calibri" pitchFamily="34" charset="-120"/>
              </a:rPr>
              <a:t>Fully endowed; first awarded in 2025</a:t>
            </a:r>
            <a:endParaRPr lang="en-US" sz="1250" dirty="0"/>
          </a:p>
        </p:txBody>
      </p:sp>
      <p:sp>
        <p:nvSpPr>
          <p:cNvPr id="8" name="Text 6"/>
          <p:cNvSpPr/>
          <p:nvPr/>
        </p:nvSpPr>
        <p:spPr>
          <a:xfrm>
            <a:off x="548640" y="3712464"/>
            <a:ext cx="10332720" cy="384048"/>
          </a:xfrm>
          <a:prstGeom prst="rect">
            <a:avLst/>
          </a:prstGeom>
          <a:noFill/>
          <a:ln/>
        </p:spPr>
        <p:txBody>
          <a:bodyPr wrap="square" lIns="0" tIns="0" rIns="0" bIns="0" rtlCol="0" anchor="ctr"/>
          <a:lstStyle/>
          <a:p>
            <a:pPr indent="0" marL="0">
              <a:buNone/>
            </a:pPr>
            <a:r>
              <a:rPr lang="en-US" sz="1600" b="1" dirty="0">
                <a:solidFill>
                  <a:srgbClr val="201D18"/>
                </a:solidFill>
                <a:latin typeface="Calibri" pitchFamily="34" charset="0"/>
                <a:ea typeface="Calibri" pitchFamily="34" charset="-122"/>
                <a:cs typeface="Calibri" pitchFamily="34" charset="-120"/>
              </a:rPr>
              <a:t>Felix Y. Feng Endowed Lecture and Endowed Professorship</a:t>
            </a:r>
            <a:endParaRPr lang="en-US" sz="1600" dirty="0"/>
          </a:p>
        </p:txBody>
      </p:sp>
      <p:sp>
        <p:nvSpPr>
          <p:cNvPr id="9" name="Text 7"/>
          <p:cNvSpPr/>
          <p:nvPr/>
        </p:nvSpPr>
        <p:spPr>
          <a:xfrm>
            <a:off x="548640" y="4078224"/>
            <a:ext cx="10332720" cy="365760"/>
          </a:xfrm>
          <a:prstGeom prst="rect">
            <a:avLst/>
          </a:prstGeom>
          <a:noFill/>
          <a:ln/>
        </p:spPr>
        <p:txBody>
          <a:bodyPr wrap="square" lIns="0" tIns="0" rIns="0" bIns="0" rtlCol="0" anchor="ctr"/>
          <a:lstStyle/>
          <a:p>
            <a:pPr indent="0" marL="0">
              <a:buNone/>
            </a:pPr>
            <a:r>
              <a:rPr lang="en-US" sz="1250" dirty="0">
                <a:solidFill>
                  <a:srgbClr val="6B6860"/>
                </a:solidFill>
                <a:latin typeface="Calibri" pitchFamily="34" charset="0"/>
                <a:ea typeface="Calibri" pitchFamily="34" charset="-122"/>
                <a:cs typeface="Calibri" pitchFamily="34" charset="-120"/>
              </a:rPr>
              <a:t>Annual lecture and faculty chair at UCSF, inaugurated November 2024</a:t>
            </a:r>
            <a:endParaRPr lang="en-US" sz="1250" dirty="0"/>
          </a:p>
        </p:txBody>
      </p:sp>
      <p:sp>
        <p:nvSpPr>
          <p:cNvPr id="10" name="Text 8"/>
          <p:cNvSpPr/>
          <p:nvPr/>
        </p:nvSpPr>
        <p:spPr>
          <a:xfrm>
            <a:off x="548640" y="4608576"/>
            <a:ext cx="10332720" cy="384048"/>
          </a:xfrm>
          <a:prstGeom prst="rect">
            <a:avLst/>
          </a:prstGeom>
          <a:noFill/>
          <a:ln/>
        </p:spPr>
        <p:txBody>
          <a:bodyPr wrap="square" lIns="0" tIns="0" rIns="0" bIns="0" rtlCol="0" anchor="ctr"/>
          <a:lstStyle/>
          <a:p>
            <a:pPr indent="0" marL="0">
              <a:buNone/>
            </a:pPr>
            <a:r>
              <a:rPr lang="en-US" sz="1600" b="1" dirty="0">
                <a:solidFill>
                  <a:srgbClr val="201D18"/>
                </a:solidFill>
                <a:latin typeface="Calibri" pitchFamily="34" charset="0"/>
                <a:ea typeface="Calibri" pitchFamily="34" charset="-122"/>
                <a:cs typeface="Calibri" pitchFamily="34" charset="-120"/>
              </a:rPr>
              <a:t>FASTRO, 2024</a:t>
            </a:r>
            <a:endParaRPr lang="en-US" sz="1600" dirty="0"/>
          </a:p>
        </p:txBody>
      </p:sp>
      <p:sp>
        <p:nvSpPr>
          <p:cNvPr id="11" name="Text 9"/>
          <p:cNvSpPr/>
          <p:nvPr/>
        </p:nvSpPr>
        <p:spPr>
          <a:xfrm>
            <a:off x="548640" y="4974336"/>
            <a:ext cx="10332720" cy="365760"/>
          </a:xfrm>
          <a:prstGeom prst="rect">
            <a:avLst/>
          </a:prstGeom>
          <a:noFill/>
          <a:ln/>
        </p:spPr>
        <p:txBody>
          <a:bodyPr wrap="square" lIns="0" tIns="0" rIns="0" bIns="0" rtlCol="0" anchor="ctr"/>
          <a:lstStyle/>
          <a:p>
            <a:pPr indent="0" marL="0">
              <a:buNone/>
            </a:pPr>
            <a:r>
              <a:rPr lang="en-US" sz="1250" dirty="0">
                <a:solidFill>
                  <a:srgbClr val="6B6860"/>
                </a:solidFill>
                <a:latin typeface="Calibri" pitchFamily="34" charset="0"/>
                <a:ea typeface="Calibri" pitchFamily="34" charset="-122"/>
                <a:cs typeface="Calibri" pitchFamily="34" charset="-120"/>
              </a:rPr>
              <a:t>Fellow of the American Society for Radiation Oncology, awarded posthumously the year he received ASTRO’s Mentorship Award</a:t>
            </a:r>
            <a:endParaRPr lang="en-US" sz="1250" dirty="0"/>
          </a:p>
        </p:txBody>
      </p:sp>
      <p:sp>
        <p:nvSpPr>
          <p:cNvPr id="12" name="Text 10"/>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ASTRO</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Cancer Letter</a:t>
            </a:r>
            <a:endParaRPr lang="en-US" sz="1000" dirty="0"/>
          </a:p>
        </p:txBody>
      </p:sp>
      <p:sp>
        <p:nvSpPr>
          <p:cNvPr id="13" name="Text 11"/>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WHAT COLLEAGUES REMEMBER FIRST</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Mentorship as the Actual Deliverable</a:t>
            </a:r>
            <a:endParaRPr lang="en-US" sz="3000" dirty="0"/>
          </a:p>
        </p:txBody>
      </p:sp>
      <p:sp>
        <p:nvSpPr>
          <p:cNvPr id="4" name="Shape 2"/>
          <p:cNvSpPr/>
          <p:nvPr/>
        </p:nvSpPr>
        <p:spPr>
          <a:xfrm>
            <a:off x="548640" y="1920240"/>
            <a:ext cx="5120640" cy="3474720"/>
          </a:xfrm>
          <a:prstGeom prst="rect">
            <a:avLst/>
          </a:prstGeom>
          <a:solidFill>
            <a:srgbClr val="FFFFFF"/>
          </a:solidFill>
          <a:ln w="12700">
            <a:solidFill>
              <a:srgbClr val="E2DDD2"/>
            </a:solidFill>
            <a:prstDash val="solid"/>
          </a:ln>
        </p:spPr>
      </p:sp>
      <p:sp>
        <p:nvSpPr>
          <p:cNvPr id="5" name="Text 3"/>
          <p:cNvSpPr/>
          <p:nvPr/>
        </p:nvSpPr>
        <p:spPr>
          <a:xfrm>
            <a:off x="822960" y="2194560"/>
            <a:ext cx="4572000" cy="2377440"/>
          </a:xfrm>
          <a:prstGeom prst="rect">
            <a:avLst/>
          </a:prstGeom>
          <a:noFill/>
          <a:ln/>
        </p:spPr>
        <p:txBody>
          <a:bodyPr wrap="square" lIns="0" tIns="0" rIns="0" bIns="0" rtlCol="0" anchor="t"/>
          <a:lstStyle/>
          <a:p>
            <a:pPr indent="0" marL="0">
              <a:lnSpc>
                <a:spcPts val="2100"/>
              </a:lnSpc>
              <a:buNone/>
            </a:pPr>
            <a:r>
              <a:rPr lang="en-US" sz="1550" i="1" dirty="0">
                <a:solidFill>
                  <a:srgbClr val="201D18"/>
                </a:solidFill>
                <a:latin typeface="Georgia" pitchFamily="34" charset="0"/>
                <a:ea typeface="Georgia" pitchFamily="34" charset="-122"/>
                <a:cs typeface="Georgia" pitchFamily="34" charset="-120"/>
              </a:rPr>
              <a:t>“A once-in-a-generation scientist... but as important as his scientific successes were, Felix could build communities of individuals, collaborations and teams like no one else.”</a:t>
            </a:r>
            <a:endParaRPr lang="en-US" sz="1550" dirty="0"/>
          </a:p>
        </p:txBody>
      </p:sp>
      <p:sp>
        <p:nvSpPr>
          <p:cNvPr id="6" name="Text 4"/>
          <p:cNvSpPr/>
          <p:nvPr/>
        </p:nvSpPr>
        <p:spPr>
          <a:xfrm>
            <a:off x="822960" y="4892040"/>
            <a:ext cx="4572000" cy="36576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 Eric J. Small, MD</a:t>
            </a:r>
            <a:endParaRPr lang="en-US" sz="1200" dirty="0"/>
          </a:p>
        </p:txBody>
      </p:sp>
      <p:sp>
        <p:nvSpPr>
          <p:cNvPr id="7" name="Shape 5"/>
          <p:cNvSpPr/>
          <p:nvPr/>
        </p:nvSpPr>
        <p:spPr>
          <a:xfrm>
            <a:off x="5852160" y="1920240"/>
            <a:ext cx="5120640" cy="3474720"/>
          </a:xfrm>
          <a:prstGeom prst="rect">
            <a:avLst/>
          </a:prstGeom>
          <a:solidFill>
            <a:srgbClr val="FFFFFF"/>
          </a:solidFill>
          <a:ln w="12700">
            <a:solidFill>
              <a:srgbClr val="E2DDD2"/>
            </a:solidFill>
            <a:prstDash val="solid"/>
          </a:ln>
        </p:spPr>
      </p:sp>
      <p:sp>
        <p:nvSpPr>
          <p:cNvPr id="8" name="Text 6"/>
          <p:cNvSpPr/>
          <p:nvPr/>
        </p:nvSpPr>
        <p:spPr>
          <a:xfrm>
            <a:off x="6126480" y="2194560"/>
            <a:ext cx="4572000" cy="2377440"/>
          </a:xfrm>
          <a:prstGeom prst="rect">
            <a:avLst/>
          </a:prstGeom>
          <a:noFill/>
          <a:ln/>
        </p:spPr>
        <p:txBody>
          <a:bodyPr wrap="square" lIns="0" tIns="0" rIns="0" bIns="0" rtlCol="0" anchor="t"/>
          <a:lstStyle/>
          <a:p>
            <a:pPr indent="0" marL="0">
              <a:lnSpc>
                <a:spcPts val="2100"/>
              </a:lnSpc>
              <a:buNone/>
            </a:pPr>
            <a:r>
              <a:rPr lang="en-US" sz="1550" i="1" dirty="0">
                <a:solidFill>
                  <a:srgbClr val="201D18"/>
                </a:solidFill>
                <a:latin typeface="Georgia" pitchFamily="34" charset="0"/>
                <a:ea typeface="Georgia" pitchFamily="34" charset="-122"/>
                <a:cs typeface="Georgia" pitchFamily="34" charset="-120"/>
              </a:rPr>
              <a:t>“Felix was someone who climbed very quickly to the top. And instead of looking out and enjoying the view, he has looked back, reached behind him, found the youngest person in the room and said, ‘Don’t worry about falling... try again, you can do this.’”</a:t>
            </a:r>
            <a:endParaRPr lang="en-US" sz="1550" dirty="0"/>
          </a:p>
        </p:txBody>
      </p:sp>
      <p:sp>
        <p:nvSpPr>
          <p:cNvPr id="9" name="Text 7"/>
          <p:cNvSpPr/>
          <p:nvPr/>
        </p:nvSpPr>
        <p:spPr>
          <a:xfrm>
            <a:off x="6126480" y="4892040"/>
            <a:ext cx="4572000" cy="365760"/>
          </a:xfrm>
          <a:prstGeom prst="rect">
            <a:avLst/>
          </a:prstGeom>
          <a:noFill/>
          <a:ln/>
        </p:spPr>
        <p:txBody>
          <a:bodyPr wrap="square" lIns="0" tIns="0" rIns="0" bIns="0" rtlCol="0" anchor="ctr"/>
          <a:lstStyle/>
          <a:p>
            <a:pPr indent="0" marL="0">
              <a:buNone/>
            </a:pPr>
            <a:r>
              <a:rPr lang="en-US" sz="1200" b="1" dirty="0">
                <a:solidFill>
                  <a:srgbClr val="A3690C"/>
                </a:solidFill>
                <a:latin typeface="Calibri" pitchFamily="34" charset="0"/>
                <a:ea typeface="Calibri" pitchFamily="34" charset="-122"/>
                <a:cs typeface="Calibri" pitchFamily="34" charset="-120"/>
              </a:rPr>
              <a:t>— Carissa Chu, MD, mentee</a:t>
            </a:r>
            <a:endParaRPr lang="en-US" sz="1200" dirty="0"/>
          </a:p>
        </p:txBody>
      </p:sp>
      <p:sp>
        <p:nvSpPr>
          <p:cNvPr id="10" name="Text 8"/>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Cancer Letter</a:t>
            </a:r>
            <a:endParaRPr lang="en-US" sz="1000" dirty="0"/>
          </a:p>
        </p:txBody>
      </p:sp>
      <p:sp>
        <p:nvSpPr>
          <p:cNvPr id="11" name="Text 9"/>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THE PROOF IS IN THIS ROOM</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The Symposium Itself Is the Evidence</a:t>
            </a:r>
            <a:endParaRPr lang="en-US" sz="3000" dirty="0"/>
          </a:p>
        </p:txBody>
      </p:sp>
      <p:sp>
        <p:nvSpPr>
          <p:cNvPr id="4" name="Text 2"/>
          <p:cNvSpPr/>
          <p:nvPr/>
        </p:nvSpPr>
        <p:spPr>
          <a:xfrm>
            <a:off x="548640" y="1965960"/>
            <a:ext cx="10332720" cy="3200400"/>
          </a:xfrm>
          <a:prstGeom prst="rect">
            <a:avLst/>
          </a:prstGeom>
          <a:noFill/>
          <a:ln/>
        </p:spPr>
        <p:txBody>
          <a:bodyPr wrap="square" lIns="0" tIns="0" rIns="0" bIns="0" rtlCol="0" anchor="t"/>
          <a:lstStyle/>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Three tracks, every year: Discovery Science, Translational Research, Clinical Application</a:t>
            </a:r>
            <a:endParaRPr lang="en-US" sz="1650" dirty="0"/>
          </a:p>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More than 200 people gathered on short notice, the week he died, to make sure his name would be attached to a meeting that kept happening</a:t>
            </a:r>
            <a:endParaRPr lang="en-US" sz="1650" dirty="0"/>
          </a:p>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Now in its fourth year, timed to precede the ASCO GU Cancers Symposium</a:t>
            </a:r>
            <a:endParaRPr lang="en-US" sz="1650" dirty="0"/>
          </a:p>
          <a:p>
            <a:pPr marL="177800" indent="-177800">
              <a:lnSpc>
                <a:spcPts val="2200"/>
              </a:lnSpc>
              <a:spcAft>
                <a:spcPts val="1600"/>
              </a:spcAft>
              <a:buSzPct val="100000"/>
              <a:buChar char="▪"/>
            </a:pPr>
            <a:r>
              <a:rPr lang="en-US" sz="1650" dirty="0">
                <a:solidFill>
                  <a:srgbClr val="201D18"/>
                </a:solidFill>
                <a:latin typeface="Calibri" pitchFamily="34" charset="0"/>
                <a:ea typeface="Calibri" pitchFamily="34" charset="-122"/>
                <a:cs typeface="Calibri" pitchFamily="34" charset="-120"/>
              </a:rPr>
              <a:t>Organized by the colleagues and mentees his own laboratory trained</a:t>
            </a:r>
            <a:endParaRPr lang="en-US" sz="1650" dirty="0"/>
          </a:p>
        </p:txBody>
      </p:sp>
      <p:sp>
        <p:nvSpPr>
          <p:cNvPr id="5" name="Text 3"/>
          <p:cNvSpPr/>
          <p:nvPr/>
        </p:nvSpPr>
        <p:spPr>
          <a:xfrm>
            <a:off x="548640" y="6473952"/>
            <a:ext cx="11091672" cy="274320"/>
          </a:xfrm>
          <a:prstGeom prst="rect">
            <a:avLst/>
          </a:prstGeom>
          <a:noFill/>
          <a:ln/>
        </p:spPr>
        <p:txBody>
          <a:bodyPr wrap="square" lIns="0" tIns="0" rIns="0" bIns="0" rtlCol="0" anchor="ctr"/>
          <a:lstStyle/>
          <a:p>
            <a:pPr algn="l" indent="0" marL="0">
              <a:buNone/>
            </a:pPr>
            <a:r>
              <a:rPr lang="en-US" sz="1000" dirty="0">
                <a:solidFill>
                  <a:srgbClr val="6B6860"/>
                </a:solidFill>
                <a:latin typeface="Calibri" pitchFamily="34" charset="0"/>
                <a:ea typeface="Calibri" pitchFamily="34" charset="-122"/>
                <a:cs typeface="Calibri" pitchFamily="34" charset="-120"/>
              </a:rPr>
              <a:t xml:space="preserve">Source: </a:t>
            </a:r>
            <a:pPr algn="l" indent="0" marL="0">
              <a:buNone/>
            </a:pPr>
            <a:r>
              <a:rPr lang="en-US" sz="1000" u="sng" dirty="0">
                <a:solidFill>
                  <a:srgbClr val="6B6860"/>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Feng Symposium</a:t>
            </a:r>
            <a:pPr algn="l" indent="0" marL="0">
              <a:buNone/>
            </a:pPr>
            <a:r>
              <a:rPr lang="en-US" sz="1000" dirty="0">
                <a:solidFill>
                  <a:srgbClr val="6B6860"/>
                </a:solidFill>
                <a:latin typeface="Calibri" pitchFamily="34" charset="0"/>
                <a:ea typeface="Calibri" pitchFamily="34" charset="-122"/>
                <a:cs typeface="Calibri" pitchFamily="34" charset="-120"/>
              </a:rPr>
              <a:t xml:space="preserve">, </a:t>
            </a:r>
            <a:pPr algn="l" indent="0" marL="0">
              <a:buNone/>
            </a:pPr>
            <a:r>
              <a:rPr lang="en-US" sz="1000" u="sng" dirty="0">
                <a:solidFill>
                  <a:srgbClr val="6B6860"/>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 Cancer Letter</a:t>
            </a:r>
            <a:endParaRPr lang="en-US" sz="1000" dirty="0"/>
          </a:p>
        </p:txBody>
      </p:sp>
      <p:sp>
        <p:nvSpPr>
          <p:cNvPr id="6" name="Text 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6E67"/>
        </a:solidFill>
      </p:bgPr>
    </p:bg>
    <p:spTree>
      <p:nvGrpSpPr>
        <p:cNvPr id="1" name=""/>
        <p:cNvGrpSpPr/>
        <p:nvPr/>
      </p:nvGrpSpPr>
      <p:grpSpPr>
        <a:xfrm>
          <a:off x="0" y="0"/>
          <a:ext cx="0" cy="0"/>
          <a:chOff x="0" y="0"/>
          <a:chExt cx="0" cy="0"/>
        </a:xfrm>
      </p:grpSpPr>
      <p:sp>
        <p:nvSpPr>
          <p:cNvPr id="2" name="Text 0"/>
          <p:cNvSpPr/>
          <p:nvPr/>
        </p:nvSpPr>
        <p:spPr>
          <a:xfrm>
            <a:off x="822960" y="1005840"/>
            <a:ext cx="7315200" cy="365760"/>
          </a:xfrm>
          <a:prstGeom prst="rect">
            <a:avLst/>
          </a:prstGeom>
          <a:noFill/>
          <a:ln/>
        </p:spPr>
        <p:txBody>
          <a:bodyPr wrap="square" lIns="0" tIns="0" rIns="0" bIns="0" rtlCol="0" anchor="ctr"/>
          <a:lstStyle/>
          <a:p>
            <a:pPr indent="0" marL="0">
              <a:buNone/>
            </a:pPr>
            <a:r>
              <a:rPr lang="en-US" sz="1300" b="1" spc="200" kern="0" dirty="0">
                <a:solidFill>
                  <a:srgbClr val="DDEFEC"/>
                </a:solidFill>
                <a:latin typeface="Calibri" pitchFamily="34" charset="0"/>
                <a:ea typeface="Calibri" pitchFamily="34" charset="-122"/>
                <a:cs typeface="Calibri" pitchFamily="34" charset="-120"/>
              </a:rPr>
              <a:t>MY SYNTHESIS</a:t>
            </a:r>
            <a:endParaRPr lang="en-US" sz="1300" dirty="0"/>
          </a:p>
        </p:txBody>
      </p:sp>
      <p:sp>
        <p:nvSpPr>
          <p:cNvPr id="3" name="Text 1"/>
          <p:cNvSpPr/>
          <p:nvPr/>
        </p:nvSpPr>
        <p:spPr>
          <a:xfrm>
            <a:off x="822960" y="1600200"/>
            <a:ext cx="10543032" cy="3108960"/>
          </a:xfrm>
          <a:prstGeom prst="rect">
            <a:avLst/>
          </a:prstGeom>
          <a:noFill/>
          <a:ln/>
        </p:spPr>
        <p:txBody>
          <a:bodyPr wrap="square" lIns="0" tIns="0" rIns="0" bIns="0" rtlCol="0" anchor="ctr"/>
          <a:lstStyle/>
          <a:p>
            <a:pPr indent="0" marL="0">
              <a:lnSpc>
                <a:spcPts val="4000"/>
              </a:lnSpc>
              <a:buNone/>
            </a:pPr>
            <a:r>
              <a:rPr lang="en-US" sz="3000" b="1" i="1" dirty="0">
                <a:solidFill>
                  <a:srgbClr val="FFFFFF"/>
                </a:solidFill>
                <a:latin typeface="Georgia" pitchFamily="34" charset="0"/>
                <a:ea typeface="Georgia" pitchFamily="34" charset="-122"/>
                <a:cs typeface="Georgia" pitchFamily="34" charset="-120"/>
              </a:rPr>
              <a:t>“A tumor’s evolutionary trajectory outlasts any single course of therapy. A scientist’s intellectual trajectory can be made to outlast the scientist — but only if he builds the scaffolding for it while he is still here.”</a:t>
            </a:r>
            <a:endParaRPr lang="en-US" sz="3000" dirty="0"/>
          </a:p>
        </p:txBody>
      </p:sp>
      <p:sp>
        <p:nvSpPr>
          <p:cNvPr id="4" name="Text 2"/>
          <p:cNvSpPr/>
          <p:nvPr/>
        </p:nvSpPr>
        <p:spPr>
          <a:xfrm>
            <a:off x="822960" y="4937760"/>
            <a:ext cx="10177272" cy="1005840"/>
          </a:xfrm>
          <a:prstGeom prst="rect">
            <a:avLst/>
          </a:prstGeom>
          <a:noFill/>
          <a:ln/>
        </p:spPr>
        <p:txBody>
          <a:bodyPr wrap="square" lIns="0" tIns="0" rIns="0" bIns="0" rtlCol="0" anchor="ctr"/>
          <a:lstStyle/>
          <a:p>
            <a:pPr indent="0" marL="0">
              <a:lnSpc>
                <a:spcPts val="1900"/>
              </a:lnSpc>
              <a:buNone/>
            </a:pPr>
            <a:r>
              <a:rPr lang="en-US" sz="1400" dirty="0">
                <a:solidFill>
                  <a:srgbClr val="D7ECE9"/>
                </a:solidFill>
                <a:latin typeface="Calibri" pitchFamily="34" charset="0"/>
                <a:ea typeface="Calibri" pitchFamily="34" charset="-122"/>
                <a:cs typeface="Calibri" pitchFamily="34" charset="-120"/>
              </a:rPr>
              <a:t>Felix Feng built that scaffolding as if he already knew he would need it: training grants, multi-institutional trial networks, named professorships, an annual meeting.</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WHAT IS LEFT TO FINISH</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Five Questions, One Problem</a:t>
            </a:r>
            <a:endParaRPr lang="en-US" sz="3000" dirty="0"/>
          </a:p>
        </p:txBody>
      </p:sp>
      <p:sp>
        <p:nvSpPr>
          <p:cNvPr id="4" name="Text 2"/>
          <p:cNvSpPr/>
          <p:nvPr/>
        </p:nvSpPr>
        <p:spPr>
          <a:xfrm>
            <a:off x="548640" y="1874520"/>
            <a:ext cx="10515600" cy="1371600"/>
          </a:xfrm>
          <a:prstGeom prst="rect">
            <a:avLst/>
          </a:prstGeom>
          <a:noFill/>
          <a:ln/>
        </p:spPr>
        <p:txBody>
          <a:bodyPr wrap="square" lIns="0" tIns="0" rIns="0" bIns="0" rtlCol="0" anchor="ctr"/>
          <a:lstStyle/>
          <a:p>
            <a:pPr indent="0" marL="0">
              <a:lnSpc>
                <a:spcPts val="2200"/>
              </a:lnSpc>
              <a:buNone/>
            </a:pPr>
            <a:r>
              <a:rPr lang="en-US" sz="1600" i="1" dirty="0">
                <a:solidFill>
                  <a:srgbClr val="201D18"/>
                </a:solidFill>
                <a:latin typeface="Calibri" pitchFamily="34" charset="0"/>
                <a:ea typeface="Calibri" pitchFamily="34" charset="-122"/>
                <a:cs typeface="Calibri" pitchFamily="34" charset="-120"/>
              </a:rPr>
              <a:t>Heterogeneity, resistance, overtreatment, algorithmic bias, and scientific succession are not five separate problems. Feng’s own body of work shows they are one problem, viewed from five angles: a tumor is a population under selection, and so, in its own way, is a scientific field.</a:t>
            </a:r>
            <a:endParaRPr lang="en-US" sz="1600" dirty="0"/>
          </a:p>
        </p:txBody>
      </p:sp>
      <p:sp>
        <p:nvSpPr>
          <p:cNvPr id="5" name="Shape 3"/>
          <p:cNvSpPr/>
          <p:nvPr/>
        </p:nvSpPr>
        <p:spPr>
          <a:xfrm>
            <a:off x="640080" y="3429000"/>
            <a:ext cx="365760" cy="365760"/>
          </a:xfrm>
          <a:prstGeom prst="ellipse">
            <a:avLst/>
          </a:prstGeom>
          <a:solidFill>
            <a:srgbClr val="ECDCBD"/>
          </a:solidFill>
          <a:ln w="12700">
            <a:solidFill>
              <a:srgbClr val="A3690C"/>
            </a:solidFill>
            <a:prstDash val="solid"/>
          </a:ln>
        </p:spPr>
      </p:sp>
      <p:sp>
        <p:nvSpPr>
          <p:cNvPr id="6" name="Text 4"/>
          <p:cNvSpPr/>
          <p:nvPr/>
        </p:nvSpPr>
        <p:spPr>
          <a:xfrm>
            <a:off x="640080" y="3429000"/>
            <a:ext cx="365760" cy="365760"/>
          </a:xfrm>
          <a:prstGeom prst="rect">
            <a:avLst/>
          </a:prstGeom>
          <a:noFill/>
          <a:ln/>
        </p:spPr>
        <p:txBody>
          <a:bodyPr wrap="square" lIns="0" tIns="0" rIns="0" bIns="0" rtlCol="0" anchor="ctr"/>
          <a:lstStyle/>
          <a:p>
            <a:pPr algn="ctr" indent="0" marL="0">
              <a:buNone/>
            </a:pPr>
            <a:r>
              <a:rPr lang="en-US" sz="1300" b="1" dirty="0">
                <a:solidFill>
                  <a:srgbClr val="A3690C"/>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43000" y="3410712"/>
            <a:ext cx="9875520" cy="402336"/>
          </a:xfrm>
          <a:prstGeom prst="rect">
            <a:avLst/>
          </a:prstGeom>
          <a:noFill/>
          <a:ln/>
        </p:spPr>
        <p:txBody>
          <a:bodyPr wrap="square" lIns="0" tIns="0" rIns="0" bIns="0" rtlCol="0" anchor="ctr"/>
          <a:lstStyle/>
          <a:p>
            <a:pPr indent="0" marL="0">
              <a:buNone/>
            </a:pPr>
            <a:r>
              <a:rPr lang="en-US" sz="1450" dirty="0">
                <a:solidFill>
                  <a:srgbClr val="201D18"/>
                </a:solidFill>
                <a:latin typeface="Calibri" pitchFamily="34" charset="0"/>
                <a:ea typeface="Calibri" pitchFamily="34" charset="-122"/>
                <a:cs typeface="Calibri" pitchFamily="34" charset="-120"/>
              </a:rPr>
              <a:t>Is prostate cancer one disease, or many?</a:t>
            </a:r>
            <a:endParaRPr lang="en-US" sz="1450" dirty="0"/>
          </a:p>
        </p:txBody>
      </p:sp>
      <p:sp>
        <p:nvSpPr>
          <p:cNvPr id="8" name="Shape 6"/>
          <p:cNvSpPr/>
          <p:nvPr/>
        </p:nvSpPr>
        <p:spPr>
          <a:xfrm>
            <a:off x="640080" y="3913632"/>
            <a:ext cx="365760" cy="365760"/>
          </a:xfrm>
          <a:prstGeom prst="ellipse">
            <a:avLst/>
          </a:prstGeom>
          <a:solidFill>
            <a:srgbClr val="ECDCBD"/>
          </a:solidFill>
          <a:ln w="12700">
            <a:solidFill>
              <a:srgbClr val="A3690C"/>
            </a:solidFill>
            <a:prstDash val="solid"/>
          </a:ln>
        </p:spPr>
      </p:sp>
      <p:sp>
        <p:nvSpPr>
          <p:cNvPr id="9" name="Text 7"/>
          <p:cNvSpPr/>
          <p:nvPr/>
        </p:nvSpPr>
        <p:spPr>
          <a:xfrm>
            <a:off x="640080" y="3913632"/>
            <a:ext cx="365760" cy="365760"/>
          </a:xfrm>
          <a:prstGeom prst="rect">
            <a:avLst/>
          </a:prstGeom>
          <a:noFill/>
          <a:ln/>
        </p:spPr>
        <p:txBody>
          <a:bodyPr wrap="square" lIns="0" tIns="0" rIns="0" bIns="0" rtlCol="0" anchor="ctr"/>
          <a:lstStyle/>
          <a:p>
            <a:pPr algn="ctr" indent="0" marL="0">
              <a:buNone/>
            </a:pPr>
            <a:r>
              <a:rPr lang="en-US" sz="1300" b="1" dirty="0">
                <a:solidFill>
                  <a:srgbClr val="A3690C"/>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143000" y="3895344"/>
            <a:ext cx="9875520" cy="402336"/>
          </a:xfrm>
          <a:prstGeom prst="rect">
            <a:avLst/>
          </a:prstGeom>
          <a:noFill/>
          <a:ln/>
        </p:spPr>
        <p:txBody>
          <a:bodyPr wrap="square" lIns="0" tIns="0" rIns="0" bIns="0" rtlCol="0" anchor="ctr"/>
          <a:lstStyle/>
          <a:p>
            <a:pPr indent="0" marL="0">
              <a:buNone/>
            </a:pPr>
            <a:r>
              <a:rPr lang="en-US" sz="1450" dirty="0">
                <a:solidFill>
                  <a:srgbClr val="201D18"/>
                </a:solidFill>
                <a:latin typeface="Calibri" pitchFamily="34" charset="0"/>
                <a:ea typeface="Calibri" pitchFamily="34" charset="-122"/>
                <a:cs typeface="Calibri" pitchFamily="34" charset="-120"/>
              </a:rPr>
              <a:t>What actually drives resistance?</a:t>
            </a:r>
            <a:endParaRPr lang="en-US" sz="1450" dirty="0"/>
          </a:p>
        </p:txBody>
      </p:sp>
      <p:sp>
        <p:nvSpPr>
          <p:cNvPr id="11" name="Shape 9"/>
          <p:cNvSpPr/>
          <p:nvPr/>
        </p:nvSpPr>
        <p:spPr>
          <a:xfrm>
            <a:off x="640080" y="4398264"/>
            <a:ext cx="365760" cy="365760"/>
          </a:xfrm>
          <a:prstGeom prst="ellipse">
            <a:avLst/>
          </a:prstGeom>
          <a:solidFill>
            <a:srgbClr val="ECDCBD"/>
          </a:solidFill>
          <a:ln w="12700">
            <a:solidFill>
              <a:srgbClr val="A3690C"/>
            </a:solidFill>
            <a:prstDash val="solid"/>
          </a:ln>
        </p:spPr>
      </p:sp>
      <p:sp>
        <p:nvSpPr>
          <p:cNvPr id="12" name="Text 10"/>
          <p:cNvSpPr/>
          <p:nvPr/>
        </p:nvSpPr>
        <p:spPr>
          <a:xfrm>
            <a:off x="640080" y="4398264"/>
            <a:ext cx="365760" cy="365760"/>
          </a:xfrm>
          <a:prstGeom prst="rect">
            <a:avLst/>
          </a:prstGeom>
          <a:noFill/>
          <a:ln/>
        </p:spPr>
        <p:txBody>
          <a:bodyPr wrap="square" lIns="0" tIns="0" rIns="0" bIns="0" rtlCol="0" anchor="ctr"/>
          <a:lstStyle/>
          <a:p>
            <a:pPr algn="ctr" indent="0" marL="0">
              <a:buNone/>
            </a:pPr>
            <a:r>
              <a:rPr lang="en-US" sz="1300" b="1" dirty="0">
                <a:solidFill>
                  <a:srgbClr val="A3690C"/>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143000" y="4379976"/>
            <a:ext cx="9875520" cy="402336"/>
          </a:xfrm>
          <a:prstGeom prst="rect">
            <a:avLst/>
          </a:prstGeom>
          <a:noFill/>
          <a:ln/>
        </p:spPr>
        <p:txBody>
          <a:bodyPr wrap="square" lIns="0" tIns="0" rIns="0" bIns="0" rtlCol="0" anchor="ctr"/>
          <a:lstStyle/>
          <a:p>
            <a:pPr indent="0" marL="0">
              <a:buNone/>
            </a:pPr>
            <a:r>
              <a:rPr lang="en-US" sz="1450" dirty="0">
                <a:solidFill>
                  <a:srgbClr val="201D18"/>
                </a:solidFill>
                <a:latin typeface="Calibri" pitchFamily="34" charset="0"/>
                <a:ea typeface="Calibri" pitchFamily="34" charset="-122"/>
                <a:cs typeface="Calibri" pitchFamily="34" charset="-120"/>
              </a:rPr>
              <a:t>How much treatment does this patient need?</a:t>
            </a:r>
            <a:endParaRPr lang="en-US" sz="1450" dirty="0"/>
          </a:p>
        </p:txBody>
      </p:sp>
      <p:sp>
        <p:nvSpPr>
          <p:cNvPr id="14" name="Shape 12"/>
          <p:cNvSpPr/>
          <p:nvPr/>
        </p:nvSpPr>
        <p:spPr>
          <a:xfrm>
            <a:off x="640080" y="4882896"/>
            <a:ext cx="365760" cy="365760"/>
          </a:xfrm>
          <a:prstGeom prst="ellipse">
            <a:avLst/>
          </a:prstGeom>
          <a:solidFill>
            <a:srgbClr val="ECDCBD"/>
          </a:solidFill>
          <a:ln w="12700">
            <a:solidFill>
              <a:srgbClr val="A3690C"/>
            </a:solidFill>
            <a:prstDash val="solid"/>
          </a:ln>
        </p:spPr>
      </p:sp>
      <p:sp>
        <p:nvSpPr>
          <p:cNvPr id="15" name="Text 13"/>
          <p:cNvSpPr/>
          <p:nvPr/>
        </p:nvSpPr>
        <p:spPr>
          <a:xfrm>
            <a:off x="640080" y="4882896"/>
            <a:ext cx="365760" cy="365760"/>
          </a:xfrm>
          <a:prstGeom prst="rect">
            <a:avLst/>
          </a:prstGeom>
          <a:noFill/>
          <a:ln/>
        </p:spPr>
        <p:txBody>
          <a:bodyPr wrap="square" lIns="0" tIns="0" rIns="0" bIns="0" rtlCol="0" anchor="ctr"/>
          <a:lstStyle/>
          <a:p>
            <a:pPr algn="ctr" indent="0" marL="0">
              <a:buNone/>
            </a:pPr>
            <a:r>
              <a:rPr lang="en-US" sz="1300" b="1" dirty="0">
                <a:solidFill>
                  <a:srgbClr val="A3690C"/>
                </a:solidFill>
                <a:latin typeface="Calibri" pitchFamily="34" charset="0"/>
                <a:ea typeface="Calibri" pitchFamily="34" charset="-122"/>
                <a:cs typeface="Calibri" pitchFamily="34" charset="-120"/>
              </a:rPr>
              <a:t>4</a:t>
            </a:r>
            <a:endParaRPr lang="en-US" sz="1300" dirty="0"/>
          </a:p>
        </p:txBody>
      </p:sp>
      <p:sp>
        <p:nvSpPr>
          <p:cNvPr id="16" name="Text 14"/>
          <p:cNvSpPr/>
          <p:nvPr/>
        </p:nvSpPr>
        <p:spPr>
          <a:xfrm>
            <a:off x="1143000" y="4864608"/>
            <a:ext cx="9875520" cy="402336"/>
          </a:xfrm>
          <a:prstGeom prst="rect">
            <a:avLst/>
          </a:prstGeom>
          <a:noFill/>
          <a:ln/>
        </p:spPr>
        <p:txBody>
          <a:bodyPr wrap="square" lIns="0" tIns="0" rIns="0" bIns="0" rtlCol="0" anchor="ctr"/>
          <a:lstStyle/>
          <a:p>
            <a:pPr indent="0" marL="0">
              <a:buNone/>
            </a:pPr>
            <a:r>
              <a:rPr lang="en-US" sz="1450" dirty="0">
                <a:solidFill>
                  <a:srgbClr val="201D18"/>
                </a:solidFill>
                <a:latin typeface="Calibri" pitchFamily="34" charset="0"/>
                <a:ea typeface="Calibri" pitchFamily="34" charset="-122"/>
                <a:cs typeface="Calibri" pitchFamily="34" charset="-120"/>
              </a:rPr>
              <a:t>Can a machine learn to treat the patient in front of us?</a:t>
            </a:r>
            <a:endParaRPr lang="en-US" sz="1450" dirty="0"/>
          </a:p>
        </p:txBody>
      </p:sp>
      <p:sp>
        <p:nvSpPr>
          <p:cNvPr id="17" name="Shape 15"/>
          <p:cNvSpPr/>
          <p:nvPr/>
        </p:nvSpPr>
        <p:spPr>
          <a:xfrm>
            <a:off x="640080" y="5367528"/>
            <a:ext cx="365760" cy="365760"/>
          </a:xfrm>
          <a:prstGeom prst="ellipse">
            <a:avLst/>
          </a:prstGeom>
          <a:solidFill>
            <a:srgbClr val="ECDCBD"/>
          </a:solidFill>
          <a:ln w="12700">
            <a:solidFill>
              <a:srgbClr val="A3690C"/>
            </a:solidFill>
            <a:prstDash val="solid"/>
          </a:ln>
        </p:spPr>
      </p:sp>
      <p:sp>
        <p:nvSpPr>
          <p:cNvPr id="18" name="Text 16"/>
          <p:cNvSpPr/>
          <p:nvPr/>
        </p:nvSpPr>
        <p:spPr>
          <a:xfrm>
            <a:off x="640080" y="5367528"/>
            <a:ext cx="365760" cy="365760"/>
          </a:xfrm>
          <a:prstGeom prst="rect">
            <a:avLst/>
          </a:prstGeom>
          <a:noFill/>
          <a:ln/>
        </p:spPr>
        <p:txBody>
          <a:bodyPr wrap="square" lIns="0" tIns="0" rIns="0" bIns="0" rtlCol="0" anchor="ctr"/>
          <a:lstStyle/>
          <a:p>
            <a:pPr algn="ctr" indent="0" marL="0">
              <a:buNone/>
            </a:pPr>
            <a:r>
              <a:rPr lang="en-US" sz="1300" b="1" dirty="0">
                <a:solidFill>
                  <a:srgbClr val="A3690C"/>
                </a:solidFill>
                <a:latin typeface="Calibri" pitchFamily="34" charset="0"/>
                <a:ea typeface="Calibri" pitchFamily="34" charset="-122"/>
                <a:cs typeface="Calibri" pitchFamily="34" charset="-120"/>
              </a:rPr>
              <a:t>5</a:t>
            </a:r>
            <a:endParaRPr lang="en-US" sz="1300" dirty="0"/>
          </a:p>
        </p:txBody>
      </p:sp>
      <p:sp>
        <p:nvSpPr>
          <p:cNvPr id="19" name="Text 17"/>
          <p:cNvSpPr/>
          <p:nvPr/>
        </p:nvSpPr>
        <p:spPr>
          <a:xfrm>
            <a:off x="1143000" y="5349240"/>
            <a:ext cx="9875520" cy="402336"/>
          </a:xfrm>
          <a:prstGeom prst="rect">
            <a:avLst/>
          </a:prstGeom>
          <a:noFill/>
          <a:ln/>
        </p:spPr>
        <p:txBody>
          <a:bodyPr wrap="square" lIns="0" tIns="0" rIns="0" bIns="0" rtlCol="0" anchor="ctr"/>
          <a:lstStyle/>
          <a:p>
            <a:pPr indent="0" marL="0">
              <a:buNone/>
            </a:pPr>
            <a:r>
              <a:rPr lang="en-US" sz="1450" dirty="0">
                <a:solidFill>
                  <a:srgbClr val="201D18"/>
                </a:solidFill>
                <a:latin typeface="Calibri" pitchFamily="34" charset="0"/>
                <a:ea typeface="Calibri" pitchFamily="34" charset="-122"/>
                <a:cs typeface="Calibri" pitchFamily="34" charset="-120"/>
              </a:rPr>
              <a:t>Does the science outlive the scientist?</a:t>
            </a:r>
            <a:endParaRPr lang="en-US" sz="1450" dirty="0"/>
          </a:p>
        </p:txBody>
      </p:sp>
      <p:sp>
        <p:nvSpPr>
          <p:cNvPr id="20" name="Text 18"/>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5F0"/>
        </a:solidFill>
      </p:bgPr>
    </p:bg>
    <p:spTree>
      <p:nvGrpSpPr>
        <p:cNvPr id="1" name=""/>
        <p:cNvGrpSpPr/>
        <p:nvPr/>
      </p:nvGrpSpPr>
      <p:grpSpPr>
        <a:xfrm>
          <a:off x="0" y="0"/>
          <a:ext cx="0" cy="0"/>
          <a:chOff x="0" y="0"/>
          <a:chExt cx="0" cy="0"/>
        </a:xfrm>
      </p:grpSpPr>
      <p:sp>
        <p:nvSpPr>
          <p:cNvPr id="2" name="Text 0"/>
          <p:cNvSpPr/>
          <p:nvPr/>
        </p:nvSpPr>
        <p:spPr>
          <a:xfrm>
            <a:off x="548640" y="457200"/>
            <a:ext cx="7315200" cy="320040"/>
          </a:xfrm>
          <a:prstGeom prst="rect">
            <a:avLst/>
          </a:prstGeom>
          <a:noFill/>
          <a:ln/>
        </p:spPr>
        <p:txBody>
          <a:bodyPr wrap="square" lIns="0" tIns="0" rIns="0" bIns="0" rtlCol="0" anchor="ctr"/>
          <a:lstStyle/>
          <a:p>
            <a:pPr indent="0" marL="0">
              <a:buNone/>
            </a:pPr>
            <a:r>
              <a:rPr lang="en-US" sz="1200" b="1" spc="150" kern="0" dirty="0">
                <a:solidFill>
                  <a:srgbClr val="A3690C"/>
                </a:solidFill>
                <a:latin typeface="Calibri" pitchFamily="34" charset="0"/>
                <a:ea typeface="Calibri" pitchFamily="34" charset="-122"/>
                <a:cs typeface="Calibri" pitchFamily="34" charset="-120"/>
              </a:rPr>
              <a:t>WHAT THE NEXT DECADE OWES THESE FIVE QUESTIONS</a:t>
            </a:r>
            <a:endParaRPr lang="en-US" sz="1200" dirty="0"/>
          </a:p>
        </p:txBody>
      </p:sp>
      <p:sp>
        <p:nvSpPr>
          <p:cNvPr id="3" name="Text 1"/>
          <p:cNvSpPr/>
          <p:nvPr/>
        </p:nvSpPr>
        <p:spPr>
          <a:xfrm>
            <a:off x="548640" y="777240"/>
            <a:ext cx="11091672" cy="914400"/>
          </a:xfrm>
          <a:prstGeom prst="rect">
            <a:avLst/>
          </a:prstGeom>
          <a:noFill/>
          <a:ln/>
        </p:spPr>
        <p:txBody>
          <a:bodyPr wrap="square" lIns="0" tIns="0" rIns="0" bIns="0" rtlCol="0" anchor="t"/>
          <a:lstStyle/>
          <a:p>
            <a:pPr indent="0" marL="0">
              <a:buNone/>
            </a:pPr>
            <a:r>
              <a:rPr lang="en-US" sz="3000" b="1" dirty="0">
                <a:solidFill>
                  <a:srgbClr val="201D18"/>
                </a:solidFill>
                <a:latin typeface="Georgia" pitchFamily="34" charset="0"/>
                <a:ea typeface="Georgia" pitchFamily="34" charset="-122"/>
                <a:cs typeface="Georgia" pitchFamily="34" charset="-120"/>
              </a:rPr>
              <a:t>A Research Agenda, Not a Retrospective</a:t>
            </a:r>
            <a:endParaRPr lang="en-US" sz="3000" dirty="0"/>
          </a:p>
        </p:txBody>
      </p:sp>
      <p:sp>
        <p:nvSpPr>
          <p:cNvPr id="4" name="Shape 2"/>
          <p:cNvSpPr/>
          <p:nvPr/>
        </p:nvSpPr>
        <p:spPr>
          <a:xfrm>
            <a:off x="548640" y="1920240"/>
            <a:ext cx="10515600" cy="960120"/>
          </a:xfrm>
          <a:prstGeom prst="rect">
            <a:avLst/>
          </a:prstGeom>
          <a:solidFill>
            <a:srgbClr val="FFFFFF"/>
          </a:solidFill>
          <a:ln w="12700">
            <a:solidFill>
              <a:srgbClr val="E2DDD2"/>
            </a:solidFill>
            <a:prstDash val="solid"/>
          </a:ln>
        </p:spPr>
      </p:sp>
      <p:sp>
        <p:nvSpPr>
          <p:cNvPr id="5" name="Text 3"/>
          <p:cNvSpPr/>
          <p:nvPr/>
        </p:nvSpPr>
        <p:spPr>
          <a:xfrm>
            <a:off x="822960" y="2011680"/>
            <a:ext cx="4297680" cy="777240"/>
          </a:xfrm>
          <a:prstGeom prst="rect">
            <a:avLst/>
          </a:prstGeom>
          <a:noFill/>
          <a:ln/>
        </p:spPr>
        <p:txBody>
          <a:bodyPr wrap="square" lIns="0" tIns="0" rIns="0" bIns="0" rtlCol="0" anchor="ctr"/>
          <a:lstStyle/>
          <a:p>
            <a:pPr indent="0" marL="0">
              <a:lnSpc>
                <a:spcPts val="1800"/>
              </a:lnSpc>
              <a:buNone/>
            </a:pPr>
            <a:r>
              <a:rPr lang="en-US" sz="1500" b="1" dirty="0">
                <a:solidFill>
                  <a:srgbClr val="0F6E67"/>
                </a:solidFill>
                <a:latin typeface="Calibri" pitchFamily="34" charset="0"/>
                <a:ea typeface="Calibri" pitchFamily="34" charset="-122"/>
                <a:cs typeface="Calibri" pitchFamily="34" charset="-120"/>
              </a:rPr>
              <a:t>Build classifiers that forecast trajectories</a:t>
            </a:r>
            <a:endParaRPr lang="en-US" sz="1500" dirty="0"/>
          </a:p>
        </p:txBody>
      </p:sp>
      <p:sp>
        <p:nvSpPr>
          <p:cNvPr id="6" name="Text 4"/>
          <p:cNvSpPr/>
          <p:nvPr/>
        </p:nvSpPr>
        <p:spPr>
          <a:xfrm>
            <a:off x="5257800" y="2011680"/>
            <a:ext cx="5623560" cy="777240"/>
          </a:xfrm>
          <a:prstGeom prst="rect">
            <a:avLst/>
          </a:prstGeom>
          <a:noFill/>
          <a:ln/>
        </p:spPr>
        <p:txBody>
          <a:bodyPr wrap="square" lIns="0" tIns="0" rIns="0" bIns="0" rtlCol="0" anchor="ctr"/>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Not just risk tiers at a single point in time — track where a tumor is heading as treatment reshapes its fitness landscape.</a:t>
            </a:r>
            <a:endParaRPr lang="en-US" sz="1250" dirty="0"/>
          </a:p>
        </p:txBody>
      </p:sp>
      <p:sp>
        <p:nvSpPr>
          <p:cNvPr id="7" name="Shape 5"/>
          <p:cNvSpPr/>
          <p:nvPr/>
        </p:nvSpPr>
        <p:spPr>
          <a:xfrm>
            <a:off x="548640" y="2953512"/>
            <a:ext cx="10515600" cy="960120"/>
          </a:xfrm>
          <a:prstGeom prst="rect">
            <a:avLst/>
          </a:prstGeom>
          <a:solidFill>
            <a:srgbClr val="F7F5F0"/>
          </a:solidFill>
          <a:ln w="12700">
            <a:solidFill>
              <a:srgbClr val="E2DDD2"/>
            </a:solidFill>
            <a:prstDash val="solid"/>
          </a:ln>
        </p:spPr>
      </p:sp>
      <p:sp>
        <p:nvSpPr>
          <p:cNvPr id="8" name="Text 6"/>
          <p:cNvSpPr/>
          <p:nvPr/>
        </p:nvSpPr>
        <p:spPr>
          <a:xfrm>
            <a:off x="822960" y="3044952"/>
            <a:ext cx="4297680" cy="777240"/>
          </a:xfrm>
          <a:prstGeom prst="rect">
            <a:avLst/>
          </a:prstGeom>
          <a:noFill/>
          <a:ln/>
        </p:spPr>
        <p:txBody>
          <a:bodyPr wrap="square" lIns="0" tIns="0" rIns="0" bIns="0" rtlCol="0" anchor="ctr"/>
          <a:lstStyle/>
          <a:p>
            <a:pPr indent="0" marL="0">
              <a:lnSpc>
                <a:spcPts val="1800"/>
              </a:lnSpc>
              <a:buNone/>
            </a:pPr>
            <a:r>
              <a:rPr lang="en-US" sz="1500" b="1" dirty="0">
                <a:solidFill>
                  <a:srgbClr val="0F6E67"/>
                </a:solidFill>
                <a:latin typeface="Calibri" pitchFamily="34" charset="0"/>
                <a:ea typeface="Calibri" pitchFamily="34" charset="-122"/>
                <a:cs typeface="Calibri" pitchFamily="34" charset="-120"/>
              </a:rPr>
              <a:t>Design trials that find who can safely get less</a:t>
            </a:r>
            <a:endParaRPr lang="en-US" sz="1500" dirty="0"/>
          </a:p>
        </p:txBody>
      </p:sp>
      <p:sp>
        <p:nvSpPr>
          <p:cNvPr id="9" name="Text 7"/>
          <p:cNvSpPr/>
          <p:nvPr/>
        </p:nvSpPr>
        <p:spPr>
          <a:xfrm>
            <a:off x="5257800" y="3044952"/>
            <a:ext cx="5623560" cy="777240"/>
          </a:xfrm>
          <a:prstGeom prst="rect">
            <a:avLst/>
          </a:prstGeom>
          <a:noFill/>
          <a:ln/>
        </p:spPr>
        <p:txBody>
          <a:bodyPr wrap="square" lIns="0" tIns="0" rIns="0" bIns="0" rtlCol="0" anchor="ctr"/>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Not only who needs more. A withheld treatment should be as publishable as an added one.</a:t>
            </a:r>
            <a:endParaRPr lang="en-US" sz="1250" dirty="0"/>
          </a:p>
        </p:txBody>
      </p:sp>
      <p:sp>
        <p:nvSpPr>
          <p:cNvPr id="10" name="Shape 8"/>
          <p:cNvSpPr/>
          <p:nvPr/>
        </p:nvSpPr>
        <p:spPr>
          <a:xfrm>
            <a:off x="548640" y="3986784"/>
            <a:ext cx="10515600" cy="960120"/>
          </a:xfrm>
          <a:prstGeom prst="rect">
            <a:avLst/>
          </a:prstGeom>
          <a:solidFill>
            <a:srgbClr val="FFFFFF"/>
          </a:solidFill>
          <a:ln w="12700">
            <a:solidFill>
              <a:srgbClr val="E2DDD2"/>
            </a:solidFill>
            <a:prstDash val="solid"/>
          </a:ln>
        </p:spPr>
      </p:sp>
      <p:sp>
        <p:nvSpPr>
          <p:cNvPr id="11" name="Text 9"/>
          <p:cNvSpPr/>
          <p:nvPr/>
        </p:nvSpPr>
        <p:spPr>
          <a:xfrm>
            <a:off x="822960" y="4078224"/>
            <a:ext cx="4297680" cy="777240"/>
          </a:xfrm>
          <a:prstGeom prst="rect">
            <a:avLst/>
          </a:prstGeom>
          <a:noFill/>
          <a:ln/>
        </p:spPr>
        <p:txBody>
          <a:bodyPr wrap="square" lIns="0" tIns="0" rIns="0" bIns="0" rtlCol="0" anchor="ctr"/>
          <a:lstStyle/>
          <a:p>
            <a:pPr indent="0" marL="0">
              <a:lnSpc>
                <a:spcPts val="1800"/>
              </a:lnSpc>
              <a:buNone/>
            </a:pPr>
            <a:r>
              <a:rPr lang="en-US" sz="1500" b="1" dirty="0">
                <a:solidFill>
                  <a:srgbClr val="0F6E67"/>
                </a:solidFill>
                <a:latin typeface="Calibri" pitchFamily="34" charset="0"/>
                <a:ea typeface="Calibri" pitchFamily="34" charset="-122"/>
                <a:cs typeface="Calibri" pitchFamily="34" charset="-120"/>
              </a:rPr>
              <a:t>Validate every algorithm in populations it was never trained on</a:t>
            </a:r>
            <a:endParaRPr lang="en-US" sz="1500" dirty="0"/>
          </a:p>
        </p:txBody>
      </p:sp>
      <p:sp>
        <p:nvSpPr>
          <p:cNvPr id="12" name="Text 10"/>
          <p:cNvSpPr/>
          <p:nvPr/>
        </p:nvSpPr>
        <p:spPr>
          <a:xfrm>
            <a:off x="5257800" y="4078224"/>
            <a:ext cx="5623560" cy="777240"/>
          </a:xfrm>
          <a:prstGeom prst="rect">
            <a:avLst/>
          </a:prstGeom>
          <a:noFill/>
          <a:ln/>
        </p:spPr>
        <p:txBody>
          <a:bodyPr wrap="square" lIns="0" tIns="0" rIns="0" bIns="0" rtlCol="0" anchor="ctr"/>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Before it goes anywhere near a patient who looks like one.</a:t>
            </a:r>
            <a:endParaRPr lang="en-US" sz="1250" dirty="0"/>
          </a:p>
        </p:txBody>
      </p:sp>
      <p:sp>
        <p:nvSpPr>
          <p:cNvPr id="13" name="Shape 11"/>
          <p:cNvSpPr/>
          <p:nvPr/>
        </p:nvSpPr>
        <p:spPr>
          <a:xfrm>
            <a:off x="548640" y="5020056"/>
            <a:ext cx="10515600" cy="960120"/>
          </a:xfrm>
          <a:prstGeom prst="rect">
            <a:avLst/>
          </a:prstGeom>
          <a:solidFill>
            <a:srgbClr val="F7F5F0"/>
          </a:solidFill>
          <a:ln w="12700">
            <a:solidFill>
              <a:srgbClr val="E2DDD2"/>
            </a:solidFill>
            <a:prstDash val="solid"/>
          </a:ln>
        </p:spPr>
      </p:sp>
      <p:sp>
        <p:nvSpPr>
          <p:cNvPr id="14" name="Text 12"/>
          <p:cNvSpPr/>
          <p:nvPr/>
        </p:nvSpPr>
        <p:spPr>
          <a:xfrm>
            <a:off x="822960" y="5111496"/>
            <a:ext cx="4297680" cy="777240"/>
          </a:xfrm>
          <a:prstGeom prst="rect">
            <a:avLst/>
          </a:prstGeom>
          <a:noFill/>
          <a:ln/>
        </p:spPr>
        <p:txBody>
          <a:bodyPr wrap="square" lIns="0" tIns="0" rIns="0" bIns="0" rtlCol="0" anchor="ctr"/>
          <a:lstStyle/>
          <a:p>
            <a:pPr indent="0" marL="0">
              <a:lnSpc>
                <a:spcPts val="1800"/>
              </a:lnSpc>
              <a:buNone/>
            </a:pPr>
            <a:r>
              <a:rPr lang="en-US" sz="1500" b="1" dirty="0">
                <a:solidFill>
                  <a:srgbClr val="0F6E67"/>
                </a:solidFill>
                <a:latin typeface="Calibri" pitchFamily="34" charset="0"/>
                <a:ea typeface="Calibri" pitchFamily="34" charset="-122"/>
                <a:cs typeface="Calibri" pitchFamily="34" charset="-120"/>
              </a:rPr>
              <a:t>Fund the infrastructure, not just the discovery</a:t>
            </a:r>
            <a:endParaRPr lang="en-US" sz="1500" dirty="0"/>
          </a:p>
        </p:txBody>
      </p:sp>
      <p:sp>
        <p:nvSpPr>
          <p:cNvPr id="15" name="Text 13"/>
          <p:cNvSpPr/>
          <p:nvPr/>
        </p:nvSpPr>
        <p:spPr>
          <a:xfrm>
            <a:off x="5257800" y="5111496"/>
            <a:ext cx="5623560" cy="777240"/>
          </a:xfrm>
          <a:prstGeom prst="rect">
            <a:avLst/>
          </a:prstGeom>
          <a:noFill/>
          <a:ln/>
        </p:spPr>
        <p:txBody>
          <a:bodyPr wrap="square" lIns="0" tIns="0" rIns="0" bIns="0" rtlCol="0" anchor="ctr"/>
          <a:lstStyle/>
          <a:p>
            <a:pPr indent="0" marL="0">
              <a:lnSpc>
                <a:spcPts val="1600"/>
              </a:lnSpc>
              <a:buNone/>
            </a:pPr>
            <a:r>
              <a:rPr lang="en-US" sz="1250" dirty="0">
                <a:solidFill>
                  <a:srgbClr val="201D18"/>
                </a:solidFill>
                <a:latin typeface="Calibri" pitchFamily="34" charset="0"/>
                <a:ea typeface="Calibri" pitchFamily="34" charset="-122"/>
                <a:cs typeface="Calibri" pitchFamily="34" charset="-120"/>
              </a:rPr>
              <a:t>Training grants, multi-institutional trial networks, and named positions are what let a question outlive the person who first asked it.</a:t>
            </a:r>
            <a:endParaRPr lang="en-US" sz="1250" dirty="0"/>
          </a:p>
        </p:txBody>
      </p:sp>
      <p:sp>
        <p:nvSpPr>
          <p:cNvPr id="16" name="Text 14"/>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914400" y="1371600"/>
            <a:ext cx="10332720" cy="1005840"/>
          </a:xfrm>
          <a:prstGeom prst="rect">
            <a:avLst/>
          </a:prstGeom>
          <a:noFill/>
          <a:ln/>
        </p:spPr>
        <p:txBody>
          <a:bodyPr wrap="square" lIns="0" tIns="0" rIns="0" bIns="0" rtlCol="0" anchor="ctr"/>
          <a:lstStyle/>
          <a:p>
            <a:pPr indent="0" marL="0">
              <a:lnSpc>
                <a:spcPts val="3200"/>
              </a:lnSpc>
              <a:buNone/>
            </a:pPr>
            <a:r>
              <a:rPr lang="en-US" sz="2400" i="1" dirty="0">
                <a:solidFill>
                  <a:srgbClr val="E8E4DB"/>
                </a:solidFill>
                <a:latin typeface="Georgia" pitchFamily="34" charset="0"/>
                <a:ea typeface="Georgia" pitchFamily="34" charset="-122"/>
                <a:cs typeface="Georgia" pitchFamily="34" charset="-120"/>
              </a:rPr>
              <a:t>The keynote he gave in May of 2024 ended, by every account, without a crisp final slide.</a:t>
            </a:r>
            <a:endParaRPr lang="en-US" sz="2400" dirty="0"/>
          </a:p>
        </p:txBody>
      </p:sp>
      <p:sp>
        <p:nvSpPr>
          <p:cNvPr id="3" name="Text 1"/>
          <p:cNvSpPr/>
          <p:nvPr/>
        </p:nvSpPr>
        <p:spPr>
          <a:xfrm>
            <a:off x="914400" y="2514600"/>
            <a:ext cx="10332720" cy="1188720"/>
          </a:xfrm>
          <a:prstGeom prst="rect">
            <a:avLst/>
          </a:prstGeom>
          <a:noFill/>
          <a:ln/>
        </p:spPr>
        <p:txBody>
          <a:bodyPr wrap="square" lIns="0" tIns="0" rIns="0" bIns="0" rtlCol="0" anchor="ctr"/>
          <a:lstStyle/>
          <a:p>
            <a:pPr indent="0" marL="0">
              <a:lnSpc>
                <a:spcPts val="3200"/>
              </a:lnSpc>
              <a:buNone/>
            </a:pPr>
            <a:r>
              <a:rPr lang="en-US" sz="2400" b="1" i="1" dirty="0">
                <a:solidFill>
                  <a:srgbClr val="A3690C"/>
                </a:solidFill>
                <a:latin typeface="Georgia" pitchFamily="34" charset="0"/>
                <a:ea typeface="Georgia" pitchFamily="34" charset="-122"/>
                <a:cs typeface="Georgia" pitchFamily="34" charset="-120"/>
              </a:rPr>
              <a:t>Seven months later he was gone, and the questions were still open — sitting exactly where he had left them for the rest of us to pick up.</a:t>
            </a:r>
            <a:endParaRPr lang="en-US" sz="2400" dirty="0"/>
          </a:p>
        </p:txBody>
      </p:sp>
      <p:sp>
        <p:nvSpPr>
          <p:cNvPr id="4" name="Text 2"/>
          <p:cNvSpPr/>
          <p:nvPr/>
        </p:nvSpPr>
        <p:spPr>
          <a:xfrm>
            <a:off x="914400" y="3977640"/>
            <a:ext cx="9692640" cy="1188720"/>
          </a:xfrm>
          <a:prstGeom prst="rect">
            <a:avLst/>
          </a:prstGeom>
          <a:noFill/>
          <a:ln/>
        </p:spPr>
        <p:txBody>
          <a:bodyPr wrap="square" lIns="0" tIns="0" rIns="0" bIns="0" rtlCol="0" anchor="ctr"/>
          <a:lstStyle/>
          <a:p>
            <a:pPr indent="0" marL="0">
              <a:lnSpc>
                <a:spcPts val="2200"/>
              </a:lnSpc>
              <a:buNone/>
            </a:pPr>
            <a:r>
              <a:rPr lang="en-US" sz="1600" dirty="0">
                <a:solidFill>
                  <a:srgbClr val="9B968C"/>
                </a:solidFill>
                <a:latin typeface="Calibri" pitchFamily="34" charset="0"/>
                <a:ea typeface="Calibri" pitchFamily="34" charset="-122"/>
                <a:cs typeface="Calibri" pitchFamily="34" charset="-120"/>
              </a:rPr>
              <a:t>That is what this symposium is for. The work is not to memorialize a body of answers. It is to keep asking his questions with the same discipline he brought to them.</a:t>
            </a:r>
            <a:endParaRPr lang="en-US" sz="1600" dirty="0"/>
          </a:p>
        </p:txBody>
      </p:sp>
      <p:sp>
        <p:nvSpPr>
          <p:cNvPr id="5" name="Text 3"/>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61A"/>
        </a:solidFill>
      </p:bgPr>
    </p:bg>
    <p:spTree>
      <p:nvGrpSpPr>
        <p:cNvPr id="1" name=""/>
        <p:cNvGrpSpPr/>
        <p:nvPr/>
      </p:nvGrpSpPr>
      <p:grpSpPr>
        <a:xfrm>
          <a:off x="0" y="0"/>
          <a:ext cx="0" cy="0"/>
          <a:chOff x="0" y="0"/>
          <a:chExt cx="0" cy="0"/>
        </a:xfrm>
      </p:grpSpPr>
      <p:sp>
        <p:nvSpPr>
          <p:cNvPr id="2" name="Text 0"/>
          <p:cNvSpPr/>
          <p:nvPr/>
        </p:nvSpPr>
        <p:spPr>
          <a:xfrm>
            <a:off x="822960" y="1097280"/>
            <a:ext cx="7315200" cy="914400"/>
          </a:xfrm>
          <a:prstGeom prst="rect">
            <a:avLst/>
          </a:prstGeom>
          <a:noFill/>
          <a:ln/>
        </p:spPr>
        <p:txBody>
          <a:bodyPr wrap="square" lIns="0" tIns="0" rIns="0" bIns="0" rtlCol="0" anchor="ctr"/>
          <a:lstStyle/>
          <a:p>
            <a:pPr indent="0" marL="0">
              <a:buNone/>
            </a:pPr>
            <a:r>
              <a:rPr lang="en-US" sz="4400" b="1" dirty="0">
                <a:solidFill>
                  <a:srgbClr val="E8E4DB"/>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822960" y="1965960"/>
            <a:ext cx="8229600" cy="457200"/>
          </a:xfrm>
          <a:prstGeom prst="rect">
            <a:avLst/>
          </a:prstGeom>
          <a:noFill/>
          <a:ln/>
        </p:spPr>
        <p:txBody>
          <a:bodyPr wrap="square" lIns="0" tIns="0" rIns="0" bIns="0" rtlCol="0" anchor="ctr"/>
          <a:lstStyle/>
          <a:p>
            <a:pPr indent="0" marL="0">
              <a:buNone/>
            </a:pPr>
            <a:r>
              <a:rPr lang="en-US" sz="1600" i="1" dirty="0">
                <a:solidFill>
                  <a:srgbClr val="A3690C"/>
                </a:solidFill>
                <a:latin typeface="Calibri" pitchFamily="34" charset="0"/>
                <a:ea typeface="Calibri" pitchFamily="34" charset="-122"/>
                <a:cs typeface="Calibri" pitchFamily="34" charset="-120"/>
              </a:rPr>
              <a:t>In memory of Felix Y. Feng, MD — 1975–2024</a:t>
            </a:r>
            <a:endParaRPr lang="en-US" sz="1600" dirty="0"/>
          </a:p>
        </p:txBody>
      </p:sp>
      <p:sp>
        <p:nvSpPr>
          <p:cNvPr id="4" name="Text 2"/>
          <p:cNvSpPr/>
          <p:nvPr/>
        </p:nvSpPr>
        <p:spPr>
          <a:xfrm>
            <a:off x="822960" y="2834640"/>
            <a:ext cx="9144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Interactive knowledge graph</a:t>
            </a:r>
            <a:endParaRPr lang="en-US" sz="1500" dirty="0"/>
          </a:p>
        </p:txBody>
      </p:sp>
      <p:sp>
        <p:nvSpPr>
          <p:cNvPr id="5" name="Text 3"/>
          <p:cNvSpPr/>
          <p:nvPr/>
        </p:nvSpPr>
        <p:spPr>
          <a:xfrm>
            <a:off x="822960" y="3182112"/>
            <a:ext cx="9601200" cy="365760"/>
          </a:xfrm>
          <a:prstGeom prst="rect">
            <a:avLst/>
          </a:prstGeom>
          <a:noFill/>
          <a:ln/>
        </p:spPr>
        <p:txBody>
          <a:bodyPr wrap="square" lIns="0" tIns="0" rIns="0" bIns="0" rtlCol="0" anchor="ctr"/>
          <a:lstStyle/>
          <a:p>
            <a:pPr indent="0" marL="0">
              <a:buNone/>
            </a:pPr>
            <a:r>
              <a:rPr lang="en-US" sz="1250" dirty="0">
                <a:solidFill>
                  <a:srgbClr val="9B968C"/>
                </a:solidFill>
                <a:latin typeface="Calibri" pitchFamily="34" charset="0"/>
                <a:ea typeface="Calibri" pitchFamily="34" charset="-122"/>
                <a:cs typeface="Calibri" pitchFamily="34" charset="-120"/>
              </a:rPr>
              <a:t>The Feng Corpus — an interactive map of 451 publications</a:t>
            </a:r>
            <a:endParaRPr lang="en-US" sz="1250" dirty="0"/>
          </a:p>
        </p:txBody>
      </p:sp>
      <p:sp>
        <p:nvSpPr>
          <p:cNvPr id="6" name="Text 4"/>
          <p:cNvSpPr/>
          <p:nvPr/>
        </p:nvSpPr>
        <p:spPr>
          <a:xfrm>
            <a:off x="822960" y="3657600"/>
            <a:ext cx="9144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 repository</a:t>
            </a:r>
            <a:endParaRPr lang="en-US" sz="1500" dirty="0"/>
          </a:p>
        </p:txBody>
      </p:sp>
      <p:sp>
        <p:nvSpPr>
          <p:cNvPr id="7" name="Text 5"/>
          <p:cNvSpPr/>
          <p:nvPr/>
        </p:nvSpPr>
        <p:spPr>
          <a:xfrm>
            <a:off x="822960" y="4005072"/>
            <a:ext cx="9601200" cy="365760"/>
          </a:xfrm>
          <a:prstGeom prst="rect">
            <a:avLst/>
          </a:prstGeom>
          <a:noFill/>
          <a:ln/>
        </p:spPr>
        <p:txBody>
          <a:bodyPr wrap="square" lIns="0" tIns="0" rIns="0" bIns="0" rtlCol="0" anchor="ctr"/>
          <a:lstStyle/>
          <a:p>
            <a:pPr indent="0" marL="0">
              <a:buNone/>
            </a:pPr>
            <a:r>
              <a:rPr lang="en-US" sz="1250" dirty="0">
                <a:solidFill>
                  <a:srgbClr val="9B968C"/>
                </a:solidFill>
                <a:latin typeface="Calibri" pitchFamily="34" charset="0"/>
                <a:ea typeface="Calibri" pitchFamily="34" charset="-122"/>
                <a:cs typeface="Calibri" pitchFamily="34" charset="-120"/>
              </a:rPr>
              <a:t>Data, code, the paper, and this deck: github.com/kpienta-cloud/FENG</a:t>
            </a:r>
            <a:endParaRPr lang="en-US" sz="1250" dirty="0"/>
          </a:p>
        </p:txBody>
      </p:sp>
      <p:sp>
        <p:nvSpPr>
          <p:cNvPr id="8" name="Text 6"/>
          <p:cNvSpPr/>
          <p:nvPr/>
        </p:nvSpPr>
        <p:spPr>
          <a:xfrm>
            <a:off x="822960" y="4480560"/>
            <a:ext cx="9144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Companion Perspective</a:t>
            </a:r>
            <a:endParaRPr lang="en-US" sz="1500" dirty="0"/>
          </a:p>
        </p:txBody>
      </p:sp>
      <p:sp>
        <p:nvSpPr>
          <p:cNvPr id="9" name="Text 7"/>
          <p:cNvSpPr/>
          <p:nvPr/>
        </p:nvSpPr>
        <p:spPr>
          <a:xfrm>
            <a:off x="822960" y="4828032"/>
            <a:ext cx="9601200" cy="365760"/>
          </a:xfrm>
          <a:prstGeom prst="rect">
            <a:avLst/>
          </a:prstGeom>
          <a:noFill/>
          <a:ln/>
        </p:spPr>
        <p:txBody>
          <a:bodyPr wrap="square" lIns="0" tIns="0" rIns="0" bIns="0" rtlCol="0" anchor="ctr"/>
          <a:lstStyle/>
          <a:p>
            <a:pPr indent="0" marL="0">
              <a:buNone/>
            </a:pPr>
            <a:r>
              <a:rPr lang="en-US" sz="1250" dirty="0">
                <a:solidFill>
                  <a:srgbClr val="9B968C"/>
                </a:solidFill>
                <a:latin typeface="Calibri" pitchFamily="34" charset="0"/>
                <a:ea typeface="Calibri" pitchFamily="34" charset="-122"/>
                <a:cs typeface="Calibri" pitchFamily="34" charset="-120"/>
              </a:rPr>
              <a:t>The Prostate — “Transformative Science and the Big Questions Shaping the Future of Prostate Cancer”</a:t>
            </a:r>
            <a:endParaRPr lang="en-US" sz="1250" dirty="0"/>
          </a:p>
        </p:txBody>
      </p:sp>
      <p:sp>
        <p:nvSpPr>
          <p:cNvPr id="10" name="Shape 8"/>
          <p:cNvSpPr/>
          <p:nvPr/>
        </p:nvSpPr>
        <p:spPr>
          <a:xfrm>
            <a:off x="822960" y="5440680"/>
            <a:ext cx="1097280" cy="0"/>
          </a:xfrm>
          <a:prstGeom prst="line">
            <a:avLst/>
          </a:prstGeom>
          <a:noFill/>
          <a:ln w="25400">
            <a:solidFill>
              <a:srgbClr val="A3690C"/>
            </a:solidFill>
            <a:prstDash val="solid"/>
          </a:ln>
        </p:spPr>
      </p:sp>
      <p:sp>
        <p:nvSpPr>
          <p:cNvPr id="11" name="Text 9"/>
          <p:cNvSpPr/>
          <p:nvPr/>
        </p:nvSpPr>
        <p:spPr>
          <a:xfrm>
            <a:off x="822960" y="5623560"/>
            <a:ext cx="9601200" cy="365760"/>
          </a:xfrm>
          <a:prstGeom prst="rect">
            <a:avLst/>
          </a:prstGeom>
          <a:noFill/>
          <a:ln/>
        </p:spPr>
        <p:txBody>
          <a:bodyPr wrap="square" lIns="0" tIns="0" rIns="0" bIns="0" rtlCol="0" anchor="ctr"/>
          <a:lstStyle/>
          <a:p>
            <a:pPr indent="0" marL="0">
              <a:buNone/>
            </a:pPr>
            <a:r>
              <a:rPr lang="en-US" sz="1200" dirty="0">
                <a:solidFill>
                  <a:srgbClr val="9B968C"/>
                </a:solidFill>
                <a:latin typeface="Calibri" pitchFamily="34" charset="0"/>
                <a:ea typeface="Calibri" pitchFamily="34" charset="-122"/>
                <a:cs typeface="Calibri" pitchFamily="34" charset="-120"/>
              </a:rPr>
              <a:t>Kenneth J. Pienta, MD  •  kpienta1@jhmi.edu  •  The Johns Hopkins University School of Medicine</a:t>
            </a:r>
            <a:endParaRPr lang="en-US" sz="1200" dirty="0"/>
          </a:p>
        </p:txBody>
      </p:sp>
      <p:sp>
        <p:nvSpPr>
          <p:cNvPr id="12" name="Text 10"/>
          <p:cNvSpPr/>
          <p:nvPr/>
        </p:nvSpPr>
        <p:spPr>
          <a:xfrm>
            <a:off x="11548872" y="6446520"/>
            <a:ext cx="365760" cy="274320"/>
          </a:xfrm>
          <a:prstGeom prst="rect">
            <a:avLst/>
          </a:prstGeom>
          <a:noFill/>
          <a:ln/>
        </p:spPr>
        <p:txBody>
          <a:bodyPr wrap="square" rtlCol="0" anchor="ctr"/>
          <a:lstStyle/>
          <a:p>
            <a:pPr algn="r" indent="0" marL="0">
              <a:buNone/>
            </a:pPr>
            <a:r>
              <a:rPr lang="en-US" sz="1000" dirty="0">
                <a:solidFill>
                  <a:srgbClr val="6B686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2026-08-30T18:21:20Z</dcterms:created>
  <dcterms:modified xsi:type="dcterms:W3CDTF">2026-08-30T18:21:20Z</dcterms:modified>
</cp:coreProperties>
</file>